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notesMasterIdLst>
    <p:notesMasterId r:id="rId15"/>
  </p:notesMasterIdLst>
  <p:sldIdLst>
    <p:sldId id="276" r:id="rId2"/>
    <p:sldId id="256" r:id="rId3"/>
    <p:sldId id="257" r:id="rId4"/>
    <p:sldId id="259" r:id="rId5"/>
    <p:sldId id="277" r:id="rId6"/>
    <p:sldId id="267" r:id="rId7"/>
    <p:sldId id="268" r:id="rId8"/>
    <p:sldId id="269" r:id="rId9"/>
    <p:sldId id="272" r:id="rId10"/>
    <p:sldId id="273" r:id="rId11"/>
    <p:sldId id="274" r:id="rId12"/>
    <p:sldId id="275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877BC7-B7DE-44EF-90C3-9011A647BD2E}" type="doc">
      <dgm:prSet loTypeId="urn:microsoft.com/office/officeart/2005/8/layout/matrix1" loCatId="matrix" qsTypeId="urn:microsoft.com/office/officeart/2005/8/quickstyle/3d2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ED993B09-B33B-4B7F-8464-95F4807BE86D}">
      <dgm:prSet phldrT="[Text]" custT="1"/>
      <dgm:spPr/>
      <dgm:t>
        <a:bodyPr/>
        <a:lstStyle/>
        <a:p>
          <a:pPr algn="ctr">
            <a:spcAft>
              <a:spcPts val="0"/>
            </a:spcAft>
          </a:pPr>
          <a:r>
            <a:rPr lang="en-US" sz="22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Total Employees</a:t>
          </a:r>
        </a:p>
        <a:p>
          <a:pPr algn="ctr">
            <a:spcAft>
              <a:spcPts val="0"/>
            </a:spcAft>
          </a:pPr>
          <a:r>
            <a:rPr lang="en-US" sz="22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50000 </a:t>
          </a:r>
        </a:p>
      </dgm:t>
    </dgm:pt>
    <dgm:pt modelId="{C13BE9AF-0DB2-42E0-AEEA-24DF1BA9E1C0}" type="parTrans" cxnId="{102CBC3A-8AAD-49F7-8D06-6A73701FF87F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8D99A186-FEFC-42F7-847D-94B0086A3A33}" type="sibTrans" cxnId="{102CBC3A-8AAD-49F7-8D06-6A73701FF87F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02268C0B-400E-45E7-8947-C3297750991A}">
      <dgm:prSet phldrT="[Text]" custT="1"/>
      <dgm:spPr/>
      <dgm:t>
        <a:bodyPr/>
        <a:lstStyle/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Active Employees</a:t>
          </a:r>
        </a:p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24895</a:t>
          </a:r>
        </a:p>
      </dgm:t>
    </dgm:pt>
    <dgm:pt modelId="{9B44AE93-E209-47D5-AE7F-8852E1CB0286}" type="parTrans" cxnId="{0751EA8E-0874-4221-BA4B-CC834476D246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5FB7925F-F007-48B6-9490-D0EDF796988E}" type="sibTrans" cxnId="{0751EA8E-0874-4221-BA4B-CC834476D246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63434095-5C7D-4BE2-A9A4-ABCD30A0F733}">
      <dgm:prSet phldrT="[Text]" custT="1"/>
      <dgm:spPr/>
      <dgm:t>
        <a:bodyPr/>
        <a:lstStyle/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Attrition Rate</a:t>
          </a:r>
        </a:p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50.21%</a:t>
          </a:r>
        </a:p>
      </dgm:t>
    </dgm:pt>
    <dgm:pt modelId="{708F1017-7775-4419-95FB-0E8C715DB659}" type="parTrans" cxnId="{6C79965D-014B-477A-9245-F301C130DBE9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81DF607F-FBA6-4AFC-811A-222EA6800968}" type="sibTrans" cxnId="{6C79965D-014B-477A-9245-F301C130DBE9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819952DA-2858-44ED-89A8-2534EF442EFE}">
      <dgm:prSet phldrT="[Text]" custT="1"/>
      <dgm:spPr/>
      <dgm:t>
        <a:bodyPr/>
        <a:lstStyle/>
        <a:p>
          <a:pPr algn="ctr"/>
          <a:endParaRPr lang="en-US" sz="1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Female Attrition</a:t>
          </a:r>
        </a:p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12560</a:t>
          </a:r>
        </a:p>
        <a:p>
          <a:pPr algn="ctr"/>
          <a:endParaRPr lang="en-US" sz="1800" b="1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73DC7DD3-90F8-407D-941F-513D772D7B41}" type="parTrans" cxnId="{D758E34F-EDA5-41C3-AA63-AC05DCEBEE19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E21EF642-B58D-4678-82D7-1F00DD942DED}" type="sibTrans" cxnId="{D758E34F-EDA5-41C3-AA63-AC05DCEBEE19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9E7EF4C3-DA01-4189-8C2A-5C4284B5898B}">
      <dgm:prSet phldrT="[Text]" custT="1"/>
      <dgm:spPr/>
      <dgm:t>
        <a:bodyPr/>
        <a:lstStyle/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Male Attrition</a:t>
          </a:r>
        </a:p>
        <a:p>
          <a:pPr algn="ctr"/>
          <a:r>
            <a:rPr lang="en-US" sz="2400" b="1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12545 </a:t>
          </a:r>
        </a:p>
      </dgm:t>
    </dgm:pt>
    <dgm:pt modelId="{04E50E34-D5AE-4784-855C-B8AD82D367A6}" type="parTrans" cxnId="{E8442BA9-E9E4-45CB-A187-AF3FE2CD49C2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C90D29CC-1157-45D8-8FA1-9D4CBF705023}" type="sibTrans" cxnId="{E8442BA9-E9E4-45CB-A187-AF3FE2CD49C2}">
      <dgm:prSet/>
      <dgm:spPr/>
      <dgm:t>
        <a:bodyPr/>
        <a:lstStyle/>
        <a:p>
          <a:pPr algn="ctr"/>
          <a:endParaRPr lang="en-US" b="1" cap="none" spc="50">
            <a:ln w="0"/>
            <a:solidFill>
              <a:schemeClr val="bg2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gm:t>
    </dgm:pt>
    <dgm:pt modelId="{B6992E29-3A4B-4C21-BE0B-F33A1D9520BA}" type="pres">
      <dgm:prSet presAssocID="{C3877BC7-B7DE-44EF-90C3-9011A647BD2E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78D5CE9-69BD-4320-95F7-BD4128667467}" type="pres">
      <dgm:prSet presAssocID="{C3877BC7-B7DE-44EF-90C3-9011A647BD2E}" presName="matrix" presStyleCnt="0"/>
      <dgm:spPr/>
    </dgm:pt>
    <dgm:pt modelId="{591B0B5B-36FB-42E5-AA6D-F3497CCE5813}" type="pres">
      <dgm:prSet presAssocID="{C3877BC7-B7DE-44EF-90C3-9011A647BD2E}" presName="tile1" presStyleLbl="node1" presStyleIdx="0" presStyleCnt="4"/>
      <dgm:spPr/>
    </dgm:pt>
    <dgm:pt modelId="{3B42FC9B-1B67-4BC7-936E-BD779BA3F069}" type="pres">
      <dgm:prSet presAssocID="{C3877BC7-B7DE-44EF-90C3-9011A647BD2E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6EC087-D5FE-48F5-8F0B-8E77AEDBD3B6}" type="pres">
      <dgm:prSet presAssocID="{C3877BC7-B7DE-44EF-90C3-9011A647BD2E}" presName="tile2" presStyleLbl="node1" presStyleIdx="1" presStyleCnt="4"/>
      <dgm:spPr/>
    </dgm:pt>
    <dgm:pt modelId="{ADA24E3F-B68D-489D-BE6D-C649CD9186EC}" type="pres">
      <dgm:prSet presAssocID="{C3877BC7-B7DE-44EF-90C3-9011A647BD2E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FAC8458-7C03-4C7A-AA92-D0B7F9CF2188}" type="pres">
      <dgm:prSet presAssocID="{C3877BC7-B7DE-44EF-90C3-9011A647BD2E}" presName="tile3" presStyleLbl="node1" presStyleIdx="2" presStyleCnt="4"/>
      <dgm:spPr/>
    </dgm:pt>
    <dgm:pt modelId="{169F6857-9A24-49E8-B2AE-0C452BD820B6}" type="pres">
      <dgm:prSet presAssocID="{C3877BC7-B7DE-44EF-90C3-9011A647BD2E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174AA41-3F37-4512-BC7A-949485983C8C}" type="pres">
      <dgm:prSet presAssocID="{C3877BC7-B7DE-44EF-90C3-9011A647BD2E}" presName="tile4" presStyleLbl="node1" presStyleIdx="3" presStyleCnt="4"/>
      <dgm:spPr/>
    </dgm:pt>
    <dgm:pt modelId="{7746F482-6E41-45C1-92BC-AB640A9D6943}" type="pres">
      <dgm:prSet presAssocID="{C3877BC7-B7DE-44EF-90C3-9011A647BD2E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005349E-97A4-44A9-868A-05B315B96F42}" type="pres">
      <dgm:prSet presAssocID="{C3877BC7-B7DE-44EF-90C3-9011A647BD2E}" presName="centerTile" presStyleLbl="fgShp" presStyleIdx="0" presStyleCnt="1" custScaleX="136183" custScaleY="104959">
        <dgm:presLayoutVars>
          <dgm:chMax val="0"/>
          <dgm:chPref val="0"/>
        </dgm:presLayoutVars>
      </dgm:prSet>
      <dgm:spPr/>
    </dgm:pt>
  </dgm:ptLst>
  <dgm:cxnLst>
    <dgm:cxn modelId="{18DBD905-ADE4-4B6C-BF6C-010B48D61BBF}" type="presOf" srcId="{C3877BC7-B7DE-44EF-90C3-9011A647BD2E}" destId="{B6992E29-3A4B-4C21-BE0B-F33A1D9520BA}" srcOrd="0" destOrd="0" presId="urn:microsoft.com/office/officeart/2005/8/layout/matrix1"/>
    <dgm:cxn modelId="{58CAA022-30A3-4CB6-A7B8-0061C09EC881}" type="presOf" srcId="{819952DA-2858-44ED-89A8-2534EF442EFE}" destId="{169F6857-9A24-49E8-B2AE-0C452BD820B6}" srcOrd="1" destOrd="0" presId="urn:microsoft.com/office/officeart/2005/8/layout/matrix1"/>
    <dgm:cxn modelId="{102CBC3A-8AAD-49F7-8D06-6A73701FF87F}" srcId="{C3877BC7-B7DE-44EF-90C3-9011A647BD2E}" destId="{ED993B09-B33B-4B7F-8464-95F4807BE86D}" srcOrd="0" destOrd="0" parTransId="{C13BE9AF-0DB2-42E0-AEEA-24DF1BA9E1C0}" sibTransId="{8D99A186-FEFC-42F7-847D-94B0086A3A33}"/>
    <dgm:cxn modelId="{6C79965D-014B-477A-9245-F301C130DBE9}" srcId="{ED993B09-B33B-4B7F-8464-95F4807BE86D}" destId="{63434095-5C7D-4BE2-A9A4-ABCD30A0F733}" srcOrd="1" destOrd="0" parTransId="{708F1017-7775-4419-95FB-0E8C715DB659}" sibTransId="{81DF607F-FBA6-4AFC-811A-222EA6800968}"/>
    <dgm:cxn modelId="{1405AD5F-7E98-45AB-B486-A1D2B8D43BA5}" type="presOf" srcId="{02268C0B-400E-45E7-8947-C3297750991A}" destId="{3B42FC9B-1B67-4BC7-936E-BD779BA3F069}" srcOrd="1" destOrd="0" presId="urn:microsoft.com/office/officeart/2005/8/layout/matrix1"/>
    <dgm:cxn modelId="{FAFE086D-6D7A-48FF-9616-3CA5B96F0376}" type="presOf" srcId="{819952DA-2858-44ED-89A8-2534EF442EFE}" destId="{8FAC8458-7C03-4C7A-AA92-D0B7F9CF2188}" srcOrd="0" destOrd="0" presId="urn:microsoft.com/office/officeart/2005/8/layout/matrix1"/>
    <dgm:cxn modelId="{D758E34F-EDA5-41C3-AA63-AC05DCEBEE19}" srcId="{ED993B09-B33B-4B7F-8464-95F4807BE86D}" destId="{819952DA-2858-44ED-89A8-2534EF442EFE}" srcOrd="2" destOrd="0" parTransId="{73DC7DD3-90F8-407D-941F-513D772D7B41}" sibTransId="{E21EF642-B58D-4678-82D7-1F00DD942DED}"/>
    <dgm:cxn modelId="{30358755-6864-4ADF-88FF-2DC675B1E436}" type="presOf" srcId="{9E7EF4C3-DA01-4189-8C2A-5C4284B5898B}" destId="{2174AA41-3F37-4512-BC7A-949485983C8C}" srcOrd="0" destOrd="0" presId="urn:microsoft.com/office/officeart/2005/8/layout/matrix1"/>
    <dgm:cxn modelId="{0751EA8E-0874-4221-BA4B-CC834476D246}" srcId="{ED993B09-B33B-4B7F-8464-95F4807BE86D}" destId="{02268C0B-400E-45E7-8947-C3297750991A}" srcOrd="0" destOrd="0" parTransId="{9B44AE93-E209-47D5-AE7F-8852E1CB0286}" sibTransId="{5FB7925F-F007-48B6-9490-D0EDF796988E}"/>
    <dgm:cxn modelId="{85A0879F-DCA0-463C-AE44-71FB9F260A23}" type="presOf" srcId="{9E7EF4C3-DA01-4189-8C2A-5C4284B5898B}" destId="{7746F482-6E41-45C1-92BC-AB640A9D6943}" srcOrd="1" destOrd="0" presId="urn:microsoft.com/office/officeart/2005/8/layout/matrix1"/>
    <dgm:cxn modelId="{E8442BA9-E9E4-45CB-A187-AF3FE2CD49C2}" srcId="{ED993B09-B33B-4B7F-8464-95F4807BE86D}" destId="{9E7EF4C3-DA01-4189-8C2A-5C4284B5898B}" srcOrd="3" destOrd="0" parTransId="{04E50E34-D5AE-4784-855C-B8AD82D367A6}" sibTransId="{C90D29CC-1157-45D8-8FA1-9D4CBF705023}"/>
    <dgm:cxn modelId="{47AA7FAF-F995-4396-906B-39DCD1DAD03F}" type="presOf" srcId="{ED993B09-B33B-4B7F-8464-95F4807BE86D}" destId="{B005349E-97A4-44A9-868A-05B315B96F42}" srcOrd="0" destOrd="0" presId="urn:microsoft.com/office/officeart/2005/8/layout/matrix1"/>
    <dgm:cxn modelId="{55EDD2B3-8D08-4F05-98CD-7488A71328A3}" type="presOf" srcId="{63434095-5C7D-4BE2-A9A4-ABCD30A0F733}" destId="{ADA24E3F-B68D-489D-BE6D-C649CD9186EC}" srcOrd="1" destOrd="0" presId="urn:microsoft.com/office/officeart/2005/8/layout/matrix1"/>
    <dgm:cxn modelId="{4A705DD1-6F94-40CA-9C25-57D941D21854}" type="presOf" srcId="{02268C0B-400E-45E7-8947-C3297750991A}" destId="{591B0B5B-36FB-42E5-AA6D-F3497CCE5813}" srcOrd="0" destOrd="0" presId="urn:microsoft.com/office/officeart/2005/8/layout/matrix1"/>
    <dgm:cxn modelId="{D90F81DA-29F1-45BC-B992-D3B694674364}" type="presOf" srcId="{63434095-5C7D-4BE2-A9A4-ABCD30A0F733}" destId="{DC6EC087-D5FE-48F5-8F0B-8E77AEDBD3B6}" srcOrd="0" destOrd="0" presId="urn:microsoft.com/office/officeart/2005/8/layout/matrix1"/>
    <dgm:cxn modelId="{4F5AF700-AF4C-4551-8313-A76B0E296B0A}" type="presParOf" srcId="{B6992E29-3A4B-4C21-BE0B-F33A1D9520BA}" destId="{578D5CE9-69BD-4320-95F7-BD4128667467}" srcOrd="0" destOrd="0" presId="urn:microsoft.com/office/officeart/2005/8/layout/matrix1"/>
    <dgm:cxn modelId="{071F03D6-33C3-478E-ADBC-64063D8EFD7C}" type="presParOf" srcId="{578D5CE9-69BD-4320-95F7-BD4128667467}" destId="{591B0B5B-36FB-42E5-AA6D-F3497CCE5813}" srcOrd="0" destOrd="0" presId="urn:microsoft.com/office/officeart/2005/8/layout/matrix1"/>
    <dgm:cxn modelId="{913DFE6A-FA24-40BF-916E-8352696232C5}" type="presParOf" srcId="{578D5CE9-69BD-4320-95F7-BD4128667467}" destId="{3B42FC9B-1B67-4BC7-936E-BD779BA3F069}" srcOrd="1" destOrd="0" presId="urn:microsoft.com/office/officeart/2005/8/layout/matrix1"/>
    <dgm:cxn modelId="{841C7CE3-2F5E-4292-8696-3970753572F1}" type="presParOf" srcId="{578D5CE9-69BD-4320-95F7-BD4128667467}" destId="{DC6EC087-D5FE-48F5-8F0B-8E77AEDBD3B6}" srcOrd="2" destOrd="0" presId="urn:microsoft.com/office/officeart/2005/8/layout/matrix1"/>
    <dgm:cxn modelId="{A6F9AFED-1F70-40BE-9331-379C8777C6B1}" type="presParOf" srcId="{578D5CE9-69BD-4320-95F7-BD4128667467}" destId="{ADA24E3F-B68D-489D-BE6D-C649CD9186EC}" srcOrd="3" destOrd="0" presId="urn:microsoft.com/office/officeart/2005/8/layout/matrix1"/>
    <dgm:cxn modelId="{C07A04E3-67FF-48AB-9B98-A6475A333407}" type="presParOf" srcId="{578D5CE9-69BD-4320-95F7-BD4128667467}" destId="{8FAC8458-7C03-4C7A-AA92-D0B7F9CF2188}" srcOrd="4" destOrd="0" presId="urn:microsoft.com/office/officeart/2005/8/layout/matrix1"/>
    <dgm:cxn modelId="{64C09232-2BAE-4DC4-A71E-5B2157C4781C}" type="presParOf" srcId="{578D5CE9-69BD-4320-95F7-BD4128667467}" destId="{169F6857-9A24-49E8-B2AE-0C452BD820B6}" srcOrd="5" destOrd="0" presId="urn:microsoft.com/office/officeart/2005/8/layout/matrix1"/>
    <dgm:cxn modelId="{B0F169EE-7FB7-4D42-93E1-34293B759B68}" type="presParOf" srcId="{578D5CE9-69BD-4320-95F7-BD4128667467}" destId="{2174AA41-3F37-4512-BC7A-949485983C8C}" srcOrd="6" destOrd="0" presId="urn:microsoft.com/office/officeart/2005/8/layout/matrix1"/>
    <dgm:cxn modelId="{6CCC7E21-842B-4DEF-B9C0-45A829493871}" type="presParOf" srcId="{578D5CE9-69BD-4320-95F7-BD4128667467}" destId="{7746F482-6E41-45C1-92BC-AB640A9D6943}" srcOrd="7" destOrd="0" presId="urn:microsoft.com/office/officeart/2005/8/layout/matrix1"/>
    <dgm:cxn modelId="{E28C3F50-8F02-417B-A154-970E2FFEDF4E}" type="presParOf" srcId="{B6992E29-3A4B-4C21-BE0B-F33A1D9520BA}" destId="{B005349E-97A4-44A9-868A-05B315B96F42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2AE86A-2022-4DED-98DA-6893278554E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0130EE-9E12-47A5-AFBE-C377715CAD6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Employee Retention Strategies may be adopted by Management</a:t>
          </a:r>
          <a:r>
            <a:rPr lang="en-US" sz="1100" b="1" dirty="0"/>
            <a:t>.</a:t>
          </a:r>
          <a:endParaRPr lang="en-US" sz="1100" dirty="0"/>
        </a:p>
      </dgm:t>
    </dgm:pt>
    <dgm:pt modelId="{9738EC2F-0576-4532-BDE4-57D2E37A26EE}" type="parTrans" cxnId="{F9699A17-A38E-490D-BF83-6B0DD2DC3162}">
      <dgm:prSet/>
      <dgm:spPr/>
      <dgm:t>
        <a:bodyPr/>
        <a:lstStyle/>
        <a:p>
          <a:endParaRPr lang="en-US"/>
        </a:p>
      </dgm:t>
    </dgm:pt>
    <dgm:pt modelId="{8F40E0DB-24DF-455B-B99C-C54E77925A97}" type="sibTrans" cxnId="{F9699A17-A38E-490D-BF83-6B0DD2DC31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4398A1-9B2F-484E-ABD1-1D9D7CDFF9A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Provide a conducive working environment to employees</a:t>
          </a:r>
          <a:r>
            <a:rPr lang="en-US" sz="1100" b="1" dirty="0"/>
            <a:t>.</a:t>
          </a:r>
          <a:endParaRPr lang="en-US" sz="1100" dirty="0"/>
        </a:p>
      </dgm:t>
    </dgm:pt>
    <dgm:pt modelId="{DBC9A2D5-AC18-4F4B-9703-C159FB488E3C}" type="parTrans" cxnId="{34F96136-FECF-43D3-AFB9-782BE4331D80}">
      <dgm:prSet/>
      <dgm:spPr/>
      <dgm:t>
        <a:bodyPr/>
        <a:lstStyle/>
        <a:p>
          <a:endParaRPr lang="en-US"/>
        </a:p>
      </dgm:t>
    </dgm:pt>
    <dgm:pt modelId="{F8D2F17C-F4B4-479B-8169-E92D846F9AC4}" type="sibTrans" cxnId="{34F96136-FECF-43D3-AFB9-782BE4331D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5E77A0-3B96-4D3D-B272-E6C97FB7EC0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Regular checks on workload of employees and reallocation of tasks, if needed.</a:t>
          </a:r>
          <a:endParaRPr lang="en-US" sz="1200" dirty="0"/>
        </a:p>
      </dgm:t>
    </dgm:pt>
    <dgm:pt modelId="{D74FB857-26DF-481E-9F8B-CCB73203520B}" type="parTrans" cxnId="{FEA404B6-A0DF-4A61-9D61-4050DF74A0DD}">
      <dgm:prSet/>
      <dgm:spPr/>
      <dgm:t>
        <a:bodyPr/>
        <a:lstStyle/>
        <a:p>
          <a:endParaRPr lang="en-US"/>
        </a:p>
      </dgm:t>
    </dgm:pt>
    <dgm:pt modelId="{3784EB42-AD61-49FB-BAF5-2743C26EC410}" type="sibTrans" cxnId="{FEA404B6-A0DF-4A61-9D61-4050DF74A0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489012-DD09-4CDB-9DC7-B77C5AA1032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Bi-monthly Performance analysis of all departments.</a:t>
          </a:r>
          <a:endParaRPr lang="en-US" sz="1200" dirty="0"/>
        </a:p>
      </dgm:t>
    </dgm:pt>
    <dgm:pt modelId="{2CDFE292-53BC-449C-ABE6-DADD61FBD277}" type="parTrans" cxnId="{9573BDDA-E82B-432B-9BDA-0D58D86E89F2}">
      <dgm:prSet/>
      <dgm:spPr/>
      <dgm:t>
        <a:bodyPr/>
        <a:lstStyle/>
        <a:p>
          <a:endParaRPr lang="en-US"/>
        </a:p>
      </dgm:t>
    </dgm:pt>
    <dgm:pt modelId="{8C20BEF1-60EC-4805-A357-718277C6229D}" type="sibTrans" cxnId="{9573BDDA-E82B-432B-9BDA-0D58D86E89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E8576B-FA30-4246-8555-8E46A742E69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To Lower attrition level arising due to travel distance, accommodation or conveyances facilities / allowances may be provided to employees.</a:t>
          </a:r>
          <a:endParaRPr lang="en-US" sz="1200" dirty="0"/>
        </a:p>
      </dgm:t>
    </dgm:pt>
    <dgm:pt modelId="{F8F82B1B-9A9B-48EE-98FC-D3737A0C22DD}" type="parTrans" cxnId="{976F168C-B76B-4AEB-A522-2A01577504A6}">
      <dgm:prSet/>
      <dgm:spPr/>
      <dgm:t>
        <a:bodyPr/>
        <a:lstStyle/>
        <a:p>
          <a:endParaRPr lang="en-US"/>
        </a:p>
      </dgm:t>
    </dgm:pt>
    <dgm:pt modelId="{F08830AA-C4AB-457F-BA3A-756F7899549C}" type="sibTrans" cxnId="{976F168C-B76B-4AEB-A522-2A01577504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15A959-F91E-404C-BA46-0AB514FA5D3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Monthly Income of employees commensurate with the market rates. Equal pay policy for same work maybe ensured.</a:t>
          </a:r>
          <a:endParaRPr lang="en-US" sz="1200" dirty="0"/>
        </a:p>
      </dgm:t>
    </dgm:pt>
    <dgm:pt modelId="{10C759EE-BD5D-491F-B080-9AEEC361E738}" type="parTrans" cxnId="{545003D7-01D3-4C38-92A6-E2B3F1DE212A}">
      <dgm:prSet/>
      <dgm:spPr/>
      <dgm:t>
        <a:bodyPr/>
        <a:lstStyle/>
        <a:p>
          <a:endParaRPr lang="en-US"/>
        </a:p>
      </dgm:t>
    </dgm:pt>
    <dgm:pt modelId="{4F56C660-8171-4F87-8359-C3DF157418C6}" type="sibTrans" cxnId="{545003D7-01D3-4C38-92A6-E2B3F1DE21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BFC81D-4EE0-4253-B16F-E1F64F3095A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200" b="1" dirty="0"/>
            <a:t>Trainings / mentorship programs may be provided to employees for efficient working.</a:t>
          </a:r>
          <a:endParaRPr lang="en-US" sz="1200" dirty="0"/>
        </a:p>
      </dgm:t>
    </dgm:pt>
    <dgm:pt modelId="{E706F2F0-4DE6-4277-8172-9B2A9D9AD05D}" type="parTrans" cxnId="{91D3CAA1-6ED1-42C4-9102-E2D4E19C15BF}">
      <dgm:prSet/>
      <dgm:spPr/>
      <dgm:t>
        <a:bodyPr/>
        <a:lstStyle/>
        <a:p>
          <a:endParaRPr lang="en-US"/>
        </a:p>
      </dgm:t>
    </dgm:pt>
    <dgm:pt modelId="{42009AB3-90A0-461A-9D06-B755A31B4240}" type="sibTrans" cxnId="{91D3CAA1-6ED1-42C4-9102-E2D4E19C15BF}">
      <dgm:prSet/>
      <dgm:spPr/>
      <dgm:t>
        <a:bodyPr/>
        <a:lstStyle/>
        <a:p>
          <a:endParaRPr lang="en-US"/>
        </a:p>
      </dgm:t>
    </dgm:pt>
    <dgm:pt modelId="{89A82C1B-10AD-41BA-9F7A-4A2A7CB0D823}" type="pres">
      <dgm:prSet presAssocID="{C72AE86A-2022-4DED-98DA-6893278554E5}" presName="root" presStyleCnt="0">
        <dgm:presLayoutVars>
          <dgm:dir/>
          <dgm:resizeHandles val="exact"/>
        </dgm:presLayoutVars>
      </dgm:prSet>
      <dgm:spPr/>
    </dgm:pt>
    <dgm:pt modelId="{E6D07BF7-98ED-413C-9AAC-9B1448C75FAC}" type="pres">
      <dgm:prSet presAssocID="{950130EE-9E12-47A5-AFBE-C377715CAD6C}" presName="compNode" presStyleCnt="0"/>
      <dgm:spPr/>
    </dgm:pt>
    <dgm:pt modelId="{3422E6CC-B86E-4197-B28B-3A60F3B8014F}" type="pres">
      <dgm:prSet presAssocID="{950130EE-9E12-47A5-AFBE-C377715CAD6C}" presName="iconBgRect" presStyleLbl="bgShp" presStyleIdx="0" presStyleCnt="7"/>
      <dgm:spPr/>
    </dgm:pt>
    <dgm:pt modelId="{042EF610-B6C2-4F5E-9D36-E080C7715F5F}" type="pres">
      <dgm:prSet presAssocID="{950130EE-9E12-47A5-AFBE-C377715CAD6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B3FBEB48-F5C0-4E15-885C-3CFA5500EAFA}" type="pres">
      <dgm:prSet presAssocID="{950130EE-9E12-47A5-AFBE-C377715CAD6C}" presName="spaceRect" presStyleCnt="0"/>
      <dgm:spPr/>
    </dgm:pt>
    <dgm:pt modelId="{E087CE23-76D7-4164-991B-1B5FD629F76A}" type="pres">
      <dgm:prSet presAssocID="{950130EE-9E12-47A5-AFBE-C377715CAD6C}" presName="textRect" presStyleLbl="revTx" presStyleIdx="0" presStyleCnt="7">
        <dgm:presLayoutVars>
          <dgm:chMax val="1"/>
          <dgm:chPref val="1"/>
        </dgm:presLayoutVars>
      </dgm:prSet>
      <dgm:spPr/>
    </dgm:pt>
    <dgm:pt modelId="{847FD7EF-93CE-4EB2-B97E-FE23EB680DC7}" type="pres">
      <dgm:prSet presAssocID="{8F40E0DB-24DF-455B-B99C-C54E77925A97}" presName="sibTrans" presStyleCnt="0"/>
      <dgm:spPr/>
    </dgm:pt>
    <dgm:pt modelId="{BBC5409D-0749-4308-A688-7ADAE84505D8}" type="pres">
      <dgm:prSet presAssocID="{3E4398A1-9B2F-484E-ABD1-1D9D7CDFF9A6}" presName="compNode" presStyleCnt="0"/>
      <dgm:spPr/>
    </dgm:pt>
    <dgm:pt modelId="{9A04F8A8-BBFA-48CB-8E09-6C3C67B24ACC}" type="pres">
      <dgm:prSet presAssocID="{3E4398A1-9B2F-484E-ABD1-1D9D7CDFF9A6}" presName="iconBgRect" presStyleLbl="bgShp" presStyleIdx="1" presStyleCnt="7"/>
      <dgm:spPr/>
    </dgm:pt>
    <dgm:pt modelId="{81484585-8A1F-4B30-9D5B-B76B7639D9F0}" type="pres">
      <dgm:prSet presAssocID="{3E4398A1-9B2F-484E-ABD1-1D9D7CDFF9A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820B211B-92B6-47F4-A432-7AE4E3841568}" type="pres">
      <dgm:prSet presAssocID="{3E4398A1-9B2F-484E-ABD1-1D9D7CDFF9A6}" presName="spaceRect" presStyleCnt="0"/>
      <dgm:spPr/>
    </dgm:pt>
    <dgm:pt modelId="{8514E9F6-C161-48FF-B7BC-D3383612B248}" type="pres">
      <dgm:prSet presAssocID="{3E4398A1-9B2F-484E-ABD1-1D9D7CDFF9A6}" presName="textRect" presStyleLbl="revTx" presStyleIdx="1" presStyleCnt="7">
        <dgm:presLayoutVars>
          <dgm:chMax val="1"/>
          <dgm:chPref val="1"/>
        </dgm:presLayoutVars>
      </dgm:prSet>
      <dgm:spPr/>
    </dgm:pt>
    <dgm:pt modelId="{5CD303DB-0035-486C-B983-0F2988701ACB}" type="pres">
      <dgm:prSet presAssocID="{F8D2F17C-F4B4-479B-8169-E92D846F9AC4}" presName="sibTrans" presStyleCnt="0"/>
      <dgm:spPr/>
    </dgm:pt>
    <dgm:pt modelId="{67FC25E2-36EB-4B77-9B33-E3A73468C4C9}" type="pres">
      <dgm:prSet presAssocID="{295E77A0-3B96-4D3D-B272-E6C97FB7EC0E}" presName="compNode" presStyleCnt="0"/>
      <dgm:spPr/>
    </dgm:pt>
    <dgm:pt modelId="{9F0AE054-B18D-47A2-A20C-75AFED7970D7}" type="pres">
      <dgm:prSet presAssocID="{295E77A0-3B96-4D3D-B272-E6C97FB7EC0E}" presName="iconBgRect" presStyleLbl="bgShp" presStyleIdx="2" presStyleCnt="7"/>
      <dgm:spPr/>
    </dgm:pt>
    <dgm:pt modelId="{D5CCE9FF-E275-449E-BD82-5500B94318C3}" type="pres">
      <dgm:prSet presAssocID="{295E77A0-3B96-4D3D-B272-E6C97FB7EC0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F3D7062C-B4DB-4EAC-8A98-8B5ECFD37636}" type="pres">
      <dgm:prSet presAssocID="{295E77A0-3B96-4D3D-B272-E6C97FB7EC0E}" presName="spaceRect" presStyleCnt="0"/>
      <dgm:spPr/>
    </dgm:pt>
    <dgm:pt modelId="{92AADA24-4480-462A-992E-0A48F2B68B54}" type="pres">
      <dgm:prSet presAssocID="{295E77A0-3B96-4D3D-B272-E6C97FB7EC0E}" presName="textRect" presStyleLbl="revTx" presStyleIdx="2" presStyleCnt="7">
        <dgm:presLayoutVars>
          <dgm:chMax val="1"/>
          <dgm:chPref val="1"/>
        </dgm:presLayoutVars>
      </dgm:prSet>
      <dgm:spPr/>
    </dgm:pt>
    <dgm:pt modelId="{20A73235-D2CE-474C-8089-E92584BC8B6F}" type="pres">
      <dgm:prSet presAssocID="{3784EB42-AD61-49FB-BAF5-2743C26EC410}" presName="sibTrans" presStyleCnt="0"/>
      <dgm:spPr/>
    </dgm:pt>
    <dgm:pt modelId="{E3B22CF8-BCDE-4B7F-BD68-005C98561E8D}" type="pres">
      <dgm:prSet presAssocID="{30489012-DD09-4CDB-9DC7-B77C5AA10326}" presName="compNode" presStyleCnt="0"/>
      <dgm:spPr/>
    </dgm:pt>
    <dgm:pt modelId="{4F61D19F-B49C-4740-91E0-20EC07C4D059}" type="pres">
      <dgm:prSet presAssocID="{30489012-DD09-4CDB-9DC7-B77C5AA10326}" presName="iconBgRect" presStyleLbl="bgShp" presStyleIdx="3" presStyleCnt="7"/>
      <dgm:spPr/>
    </dgm:pt>
    <dgm:pt modelId="{A73D6584-D0DB-42EE-B3DA-8818379E6C5F}" type="pres">
      <dgm:prSet presAssocID="{30489012-DD09-4CDB-9DC7-B77C5AA1032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42F178B-4A6F-44BA-A7AE-689AD0273A47}" type="pres">
      <dgm:prSet presAssocID="{30489012-DD09-4CDB-9DC7-B77C5AA10326}" presName="spaceRect" presStyleCnt="0"/>
      <dgm:spPr/>
    </dgm:pt>
    <dgm:pt modelId="{5897F6F1-2800-424D-9051-BEFF232CD652}" type="pres">
      <dgm:prSet presAssocID="{30489012-DD09-4CDB-9DC7-B77C5AA10326}" presName="textRect" presStyleLbl="revTx" presStyleIdx="3" presStyleCnt="7">
        <dgm:presLayoutVars>
          <dgm:chMax val="1"/>
          <dgm:chPref val="1"/>
        </dgm:presLayoutVars>
      </dgm:prSet>
      <dgm:spPr/>
    </dgm:pt>
    <dgm:pt modelId="{BE6D23B9-4BBE-4573-8812-ECB4184D5145}" type="pres">
      <dgm:prSet presAssocID="{8C20BEF1-60EC-4805-A357-718277C6229D}" presName="sibTrans" presStyleCnt="0"/>
      <dgm:spPr/>
    </dgm:pt>
    <dgm:pt modelId="{EBCD70D2-AB89-4C0B-B6A3-C207D2D1AA1F}" type="pres">
      <dgm:prSet presAssocID="{ACE8576B-FA30-4246-8555-8E46A742E692}" presName="compNode" presStyleCnt="0"/>
      <dgm:spPr/>
    </dgm:pt>
    <dgm:pt modelId="{E4F96173-097E-4FDB-B5DB-AE25319594F8}" type="pres">
      <dgm:prSet presAssocID="{ACE8576B-FA30-4246-8555-8E46A742E692}" presName="iconBgRect" presStyleLbl="bgShp" presStyleIdx="4" presStyleCnt="7"/>
      <dgm:spPr/>
    </dgm:pt>
    <dgm:pt modelId="{3B5B5E67-C554-45E3-8DE7-125843F9FEC5}" type="pres">
      <dgm:prSet presAssocID="{ACE8576B-FA30-4246-8555-8E46A742E69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A25417F-F55F-4A4C-A70D-BDA2049F4720}" type="pres">
      <dgm:prSet presAssocID="{ACE8576B-FA30-4246-8555-8E46A742E692}" presName="spaceRect" presStyleCnt="0"/>
      <dgm:spPr/>
    </dgm:pt>
    <dgm:pt modelId="{CFA4D968-6FB8-4225-A86A-47F9F1F90A49}" type="pres">
      <dgm:prSet presAssocID="{ACE8576B-FA30-4246-8555-8E46A742E692}" presName="textRect" presStyleLbl="revTx" presStyleIdx="4" presStyleCnt="7">
        <dgm:presLayoutVars>
          <dgm:chMax val="1"/>
          <dgm:chPref val="1"/>
        </dgm:presLayoutVars>
      </dgm:prSet>
      <dgm:spPr/>
    </dgm:pt>
    <dgm:pt modelId="{4BBD3F7A-BD68-483A-BA7B-E82B7AD51EF0}" type="pres">
      <dgm:prSet presAssocID="{F08830AA-C4AB-457F-BA3A-756F7899549C}" presName="sibTrans" presStyleCnt="0"/>
      <dgm:spPr/>
    </dgm:pt>
    <dgm:pt modelId="{206E4DDF-098B-412A-8FD7-BF41FD8642E7}" type="pres">
      <dgm:prSet presAssocID="{2F15A959-F91E-404C-BA46-0AB514FA5D3E}" presName="compNode" presStyleCnt="0"/>
      <dgm:spPr/>
    </dgm:pt>
    <dgm:pt modelId="{FF3DA61B-74E5-46C0-881D-71E964852DC1}" type="pres">
      <dgm:prSet presAssocID="{2F15A959-F91E-404C-BA46-0AB514FA5D3E}" presName="iconBgRect" presStyleLbl="bgShp" presStyleIdx="5" presStyleCnt="7"/>
      <dgm:spPr/>
    </dgm:pt>
    <dgm:pt modelId="{8D2DFE09-AF66-4702-A8A8-BC44CD545F88}" type="pres">
      <dgm:prSet presAssocID="{2F15A959-F91E-404C-BA46-0AB514FA5D3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25DCC85-25D2-439B-8A90-705CB85FF29C}" type="pres">
      <dgm:prSet presAssocID="{2F15A959-F91E-404C-BA46-0AB514FA5D3E}" presName="spaceRect" presStyleCnt="0"/>
      <dgm:spPr/>
    </dgm:pt>
    <dgm:pt modelId="{07F621E9-93FD-4256-8233-AA22AC46BDBC}" type="pres">
      <dgm:prSet presAssocID="{2F15A959-F91E-404C-BA46-0AB514FA5D3E}" presName="textRect" presStyleLbl="revTx" presStyleIdx="5" presStyleCnt="7">
        <dgm:presLayoutVars>
          <dgm:chMax val="1"/>
          <dgm:chPref val="1"/>
        </dgm:presLayoutVars>
      </dgm:prSet>
      <dgm:spPr/>
    </dgm:pt>
    <dgm:pt modelId="{89E45E4C-0D05-4986-9C95-71E0AB32AA95}" type="pres">
      <dgm:prSet presAssocID="{4F56C660-8171-4F87-8359-C3DF157418C6}" presName="sibTrans" presStyleCnt="0"/>
      <dgm:spPr/>
    </dgm:pt>
    <dgm:pt modelId="{9332407B-DB21-4D03-98DD-AC613F47F9D8}" type="pres">
      <dgm:prSet presAssocID="{66BFC81D-4EE0-4253-B16F-E1F64F3095AC}" presName="compNode" presStyleCnt="0"/>
      <dgm:spPr/>
    </dgm:pt>
    <dgm:pt modelId="{F61E3DDE-AC16-4D0E-8F68-8742295EF847}" type="pres">
      <dgm:prSet presAssocID="{66BFC81D-4EE0-4253-B16F-E1F64F3095AC}" presName="iconBgRect" presStyleLbl="bgShp" presStyleIdx="6" presStyleCnt="7"/>
      <dgm:spPr/>
    </dgm:pt>
    <dgm:pt modelId="{82D26907-4D27-45C7-B89C-F9AF92C59793}" type="pres">
      <dgm:prSet presAssocID="{66BFC81D-4EE0-4253-B16F-E1F64F3095A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1DEED41-BE25-4AD7-AB79-D294D6B2855E}" type="pres">
      <dgm:prSet presAssocID="{66BFC81D-4EE0-4253-B16F-E1F64F3095AC}" presName="spaceRect" presStyleCnt="0"/>
      <dgm:spPr/>
    </dgm:pt>
    <dgm:pt modelId="{96F66CEA-C130-485A-A13E-E223D0A0D7DF}" type="pres">
      <dgm:prSet presAssocID="{66BFC81D-4EE0-4253-B16F-E1F64F3095A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9699A17-A38E-490D-BF83-6B0DD2DC3162}" srcId="{C72AE86A-2022-4DED-98DA-6893278554E5}" destId="{950130EE-9E12-47A5-AFBE-C377715CAD6C}" srcOrd="0" destOrd="0" parTransId="{9738EC2F-0576-4532-BDE4-57D2E37A26EE}" sibTransId="{8F40E0DB-24DF-455B-B99C-C54E77925A97}"/>
    <dgm:cxn modelId="{34F96136-FECF-43D3-AFB9-782BE4331D80}" srcId="{C72AE86A-2022-4DED-98DA-6893278554E5}" destId="{3E4398A1-9B2F-484E-ABD1-1D9D7CDFF9A6}" srcOrd="1" destOrd="0" parTransId="{DBC9A2D5-AC18-4F4B-9703-C159FB488E3C}" sibTransId="{F8D2F17C-F4B4-479B-8169-E92D846F9AC4}"/>
    <dgm:cxn modelId="{EE6CCE42-7668-4BC7-AD56-D13F18A484FE}" type="presOf" srcId="{950130EE-9E12-47A5-AFBE-C377715CAD6C}" destId="{E087CE23-76D7-4164-991B-1B5FD629F76A}" srcOrd="0" destOrd="0" presId="urn:microsoft.com/office/officeart/2018/5/layout/IconCircleLabelList"/>
    <dgm:cxn modelId="{976F168C-B76B-4AEB-A522-2A01577504A6}" srcId="{C72AE86A-2022-4DED-98DA-6893278554E5}" destId="{ACE8576B-FA30-4246-8555-8E46A742E692}" srcOrd="4" destOrd="0" parTransId="{F8F82B1B-9A9B-48EE-98FC-D3737A0C22DD}" sibTransId="{F08830AA-C4AB-457F-BA3A-756F7899549C}"/>
    <dgm:cxn modelId="{E0320D8E-5E8E-47E7-9666-88BAD72E6447}" type="presOf" srcId="{C72AE86A-2022-4DED-98DA-6893278554E5}" destId="{89A82C1B-10AD-41BA-9F7A-4A2A7CB0D823}" srcOrd="0" destOrd="0" presId="urn:microsoft.com/office/officeart/2018/5/layout/IconCircleLabelList"/>
    <dgm:cxn modelId="{1060F198-BC95-414A-B97A-B909AC9EBEC0}" type="presOf" srcId="{30489012-DD09-4CDB-9DC7-B77C5AA10326}" destId="{5897F6F1-2800-424D-9051-BEFF232CD652}" srcOrd="0" destOrd="0" presId="urn:microsoft.com/office/officeart/2018/5/layout/IconCircleLabelList"/>
    <dgm:cxn modelId="{91D3CAA1-6ED1-42C4-9102-E2D4E19C15BF}" srcId="{C72AE86A-2022-4DED-98DA-6893278554E5}" destId="{66BFC81D-4EE0-4253-B16F-E1F64F3095AC}" srcOrd="6" destOrd="0" parTransId="{E706F2F0-4DE6-4277-8172-9B2A9D9AD05D}" sibTransId="{42009AB3-90A0-461A-9D06-B755A31B4240}"/>
    <dgm:cxn modelId="{72E9E8AB-E855-42E9-947A-ECE5F90BFE6D}" type="presOf" srcId="{2F15A959-F91E-404C-BA46-0AB514FA5D3E}" destId="{07F621E9-93FD-4256-8233-AA22AC46BDBC}" srcOrd="0" destOrd="0" presId="urn:microsoft.com/office/officeart/2018/5/layout/IconCircleLabelList"/>
    <dgm:cxn modelId="{FD3F47B3-141F-41EB-981E-BFBF05942588}" type="presOf" srcId="{3E4398A1-9B2F-484E-ABD1-1D9D7CDFF9A6}" destId="{8514E9F6-C161-48FF-B7BC-D3383612B248}" srcOrd="0" destOrd="0" presId="urn:microsoft.com/office/officeart/2018/5/layout/IconCircleLabelList"/>
    <dgm:cxn modelId="{FEA404B6-A0DF-4A61-9D61-4050DF74A0DD}" srcId="{C72AE86A-2022-4DED-98DA-6893278554E5}" destId="{295E77A0-3B96-4D3D-B272-E6C97FB7EC0E}" srcOrd="2" destOrd="0" parTransId="{D74FB857-26DF-481E-9F8B-CCB73203520B}" sibTransId="{3784EB42-AD61-49FB-BAF5-2743C26EC410}"/>
    <dgm:cxn modelId="{8E432FC2-D870-497A-BB5C-539D708588BB}" type="presOf" srcId="{295E77A0-3B96-4D3D-B272-E6C97FB7EC0E}" destId="{92AADA24-4480-462A-992E-0A48F2B68B54}" srcOrd="0" destOrd="0" presId="urn:microsoft.com/office/officeart/2018/5/layout/IconCircleLabelList"/>
    <dgm:cxn modelId="{ED8226CD-7552-41ED-BCD9-ADDA03F229FA}" type="presOf" srcId="{ACE8576B-FA30-4246-8555-8E46A742E692}" destId="{CFA4D968-6FB8-4225-A86A-47F9F1F90A49}" srcOrd="0" destOrd="0" presId="urn:microsoft.com/office/officeart/2018/5/layout/IconCircleLabelList"/>
    <dgm:cxn modelId="{545003D7-01D3-4C38-92A6-E2B3F1DE212A}" srcId="{C72AE86A-2022-4DED-98DA-6893278554E5}" destId="{2F15A959-F91E-404C-BA46-0AB514FA5D3E}" srcOrd="5" destOrd="0" parTransId="{10C759EE-BD5D-491F-B080-9AEEC361E738}" sibTransId="{4F56C660-8171-4F87-8359-C3DF157418C6}"/>
    <dgm:cxn modelId="{9573BDDA-E82B-432B-9BDA-0D58D86E89F2}" srcId="{C72AE86A-2022-4DED-98DA-6893278554E5}" destId="{30489012-DD09-4CDB-9DC7-B77C5AA10326}" srcOrd="3" destOrd="0" parTransId="{2CDFE292-53BC-449C-ABE6-DADD61FBD277}" sibTransId="{8C20BEF1-60EC-4805-A357-718277C6229D}"/>
    <dgm:cxn modelId="{13CF93EB-C289-4D98-8E5B-75278823939E}" type="presOf" srcId="{66BFC81D-4EE0-4253-B16F-E1F64F3095AC}" destId="{96F66CEA-C130-485A-A13E-E223D0A0D7DF}" srcOrd="0" destOrd="0" presId="urn:microsoft.com/office/officeart/2018/5/layout/IconCircleLabelList"/>
    <dgm:cxn modelId="{74C6348C-51F1-429D-A9F6-739639BFBE26}" type="presParOf" srcId="{89A82C1B-10AD-41BA-9F7A-4A2A7CB0D823}" destId="{E6D07BF7-98ED-413C-9AAC-9B1448C75FAC}" srcOrd="0" destOrd="0" presId="urn:microsoft.com/office/officeart/2018/5/layout/IconCircleLabelList"/>
    <dgm:cxn modelId="{9CA09D50-22D8-4114-9959-334CEEA6272F}" type="presParOf" srcId="{E6D07BF7-98ED-413C-9AAC-9B1448C75FAC}" destId="{3422E6CC-B86E-4197-B28B-3A60F3B8014F}" srcOrd="0" destOrd="0" presId="urn:microsoft.com/office/officeart/2018/5/layout/IconCircleLabelList"/>
    <dgm:cxn modelId="{9BFFABA5-517F-44D3-9198-B7D6FF05FEE4}" type="presParOf" srcId="{E6D07BF7-98ED-413C-9AAC-9B1448C75FAC}" destId="{042EF610-B6C2-4F5E-9D36-E080C7715F5F}" srcOrd="1" destOrd="0" presId="urn:microsoft.com/office/officeart/2018/5/layout/IconCircleLabelList"/>
    <dgm:cxn modelId="{4550D006-F133-4890-8149-B5123E34B7DA}" type="presParOf" srcId="{E6D07BF7-98ED-413C-9AAC-9B1448C75FAC}" destId="{B3FBEB48-F5C0-4E15-885C-3CFA5500EAFA}" srcOrd="2" destOrd="0" presId="urn:microsoft.com/office/officeart/2018/5/layout/IconCircleLabelList"/>
    <dgm:cxn modelId="{2C798570-B176-4DF6-9F18-053E98C01E5C}" type="presParOf" srcId="{E6D07BF7-98ED-413C-9AAC-9B1448C75FAC}" destId="{E087CE23-76D7-4164-991B-1B5FD629F76A}" srcOrd="3" destOrd="0" presId="urn:microsoft.com/office/officeart/2018/5/layout/IconCircleLabelList"/>
    <dgm:cxn modelId="{EAA93574-4093-493D-8D04-87A50AC16861}" type="presParOf" srcId="{89A82C1B-10AD-41BA-9F7A-4A2A7CB0D823}" destId="{847FD7EF-93CE-4EB2-B97E-FE23EB680DC7}" srcOrd="1" destOrd="0" presId="urn:microsoft.com/office/officeart/2018/5/layout/IconCircleLabelList"/>
    <dgm:cxn modelId="{72EFEA5C-417F-4D79-89F0-AC0594EC6DB8}" type="presParOf" srcId="{89A82C1B-10AD-41BA-9F7A-4A2A7CB0D823}" destId="{BBC5409D-0749-4308-A688-7ADAE84505D8}" srcOrd="2" destOrd="0" presId="urn:microsoft.com/office/officeart/2018/5/layout/IconCircleLabelList"/>
    <dgm:cxn modelId="{0DE72307-1490-4DC9-B9EA-9BFD15742143}" type="presParOf" srcId="{BBC5409D-0749-4308-A688-7ADAE84505D8}" destId="{9A04F8A8-BBFA-48CB-8E09-6C3C67B24ACC}" srcOrd="0" destOrd="0" presId="urn:microsoft.com/office/officeart/2018/5/layout/IconCircleLabelList"/>
    <dgm:cxn modelId="{FF50288B-99EE-41E5-B068-10E3C60B3C85}" type="presParOf" srcId="{BBC5409D-0749-4308-A688-7ADAE84505D8}" destId="{81484585-8A1F-4B30-9D5B-B76B7639D9F0}" srcOrd="1" destOrd="0" presId="urn:microsoft.com/office/officeart/2018/5/layout/IconCircleLabelList"/>
    <dgm:cxn modelId="{7C79422A-AB73-40D1-9880-060148D1949A}" type="presParOf" srcId="{BBC5409D-0749-4308-A688-7ADAE84505D8}" destId="{820B211B-92B6-47F4-A432-7AE4E3841568}" srcOrd="2" destOrd="0" presId="urn:microsoft.com/office/officeart/2018/5/layout/IconCircleLabelList"/>
    <dgm:cxn modelId="{2E7C9482-D6FF-4D81-9CD7-8138F4B1CC26}" type="presParOf" srcId="{BBC5409D-0749-4308-A688-7ADAE84505D8}" destId="{8514E9F6-C161-48FF-B7BC-D3383612B248}" srcOrd="3" destOrd="0" presId="urn:microsoft.com/office/officeart/2018/5/layout/IconCircleLabelList"/>
    <dgm:cxn modelId="{E28E9670-DC23-4348-8F50-136CE5231D30}" type="presParOf" srcId="{89A82C1B-10AD-41BA-9F7A-4A2A7CB0D823}" destId="{5CD303DB-0035-486C-B983-0F2988701ACB}" srcOrd="3" destOrd="0" presId="urn:microsoft.com/office/officeart/2018/5/layout/IconCircleLabelList"/>
    <dgm:cxn modelId="{0807B084-000D-4BAA-BC63-45D639EA0FCA}" type="presParOf" srcId="{89A82C1B-10AD-41BA-9F7A-4A2A7CB0D823}" destId="{67FC25E2-36EB-4B77-9B33-E3A73468C4C9}" srcOrd="4" destOrd="0" presId="urn:microsoft.com/office/officeart/2018/5/layout/IconCircleLabelList"/>
    <dgm:cxn modelId="{C9ACCC63-A7CB-48D4-A1FE-073179DF777C}" type="presParOf" srcId="{67FC25E2-36EB-4B77-9B33-E3A73468C4C9}" destId="{9F0AE054-B18D-47A2-A20C-75AFED7970D7}" srcOrd="0" destOrd="0" presId="urn:microsoft.com/office/officeart/2018/5/layout/IconCircleLabelList"/>
    <dgm:cxn modelId="{FE876D15-B2A8-4F12-9945-56151F078C98}" type="presParOf" srcId="{67FC25E2-36EB-4B77-9B33-E3A73468C4C9}" destId="{D5CCE9FF-E275-449E-BD82-5500B94318C3}" srcOrd="1" destOrd="0" presId="urn:microsoft.com/office/officeart/2018/5/layout/IconCircleLabelList"/>
    <dgm:cxn modelId="{0DBB8F5A-FBB2-4832-9A38-B441DC1B9716}" type="presParOf" srcId="{67FC25E2-36EB-4B77-9B33-E3A73468C4C9}" destId="{F3D7062C-B4DB-4EAC-8A98-8B5ECFD37636}" srcOrd="2" destOrd="0" presId="urn:microsoft.com/office/officeart/2018/5/layout/IconCircleLabelList"/>
    <dgm:cxn modelId="{722D1F42-6509-4FA2-A67D-7E0A41D3F72C}" type="presParOf" srcId="{67FC25E2-36EB-4B77-9B33-E3A73468C4C9}" destId="{92AADA24-4480-462A-992E-0A48F2B68B54}" srcOrd="3" destOrd="0" presId="urn:microsoft.com/office/officeart/2018/5/layout/IconCircleLabelList"/>
    <dgm:cxn modelId="{B7FC47E8-5A4F-49DB-B448-162D1EC15520}" type="presParOf" srcId="{89A82C1B-10AD-41BA-9F7A-4A2A7CB0D823}" destId="{20A73235-D2CE-474C-8089-E92584BC8B6F}" srcOrd="5" destOrd="0" presId="urn:microsoft.com/office/officeart/2018/5/layout/IconCircleLabelList"/>
    <dgm:cxn modelId="{31D58044-8B7C-46FB-9F3A-2F95AAA04F74}" type="presParOf" srcId="{89A82C1B-10AD-41BA-9F7A-4A2A7CB0D823}" destId="{E3B22CF8-BCDE-4B7F-BD68-005C98561E8D}" srcOrd="6" destOrd="0" presId="urn:microsoft.com/office/officeart/2018/5/layout/IconCircleLabelList"/>
    <dgm:cxn modelId="{33D758FB-25D2-445D-B595-38908F070C26}" type="presParOf" srcId="{E3B22CF8-BCDE-4B7F-BD68-005C98561E8D}" destId="{4F61D19F-B49C-4740-91E0-20EC07C4D059}" srcOrd="0" destOrd="0" presId="urn:microsoft.com/office/officeart/2018/5/layout/IconCircleLabelList"/>
    <dgm:cxn modelId="{DAD8D72E-0F87-4B1F-B78D-964F8D3A98FA}" type="presParOf" srcId="{E3B22CF8-BCDE-4B7F-BD68-005C98561E8D}" destId="{A73D6584-D0DB-42EE-B3DA-8818379E6C5F}" srcOrd="1" destOrd="0" presId="urn:microsoft.com/office/officeart/2018/5/layout/IconCircleLabelList"/>
    <dgm:cxn modelId="{A53A930C-584E-4C71-93EF-781D1C8C1096}" type="presParOf" srcId="{E3B22CF8-BCDE-4B7F-BD68-005C98561E8D}" destId="{242F178B-4A6F-44BA-A7AE-689AD0273A47}" srcOrd="2" destOrd="0" presId="urn:microsoft.com/office/officeart/2018/5/layout/IconCircleLabelList"/>
    <dgm:cxn modelId="{887081F6-09E3-4F11-841E-39A34102B601}" type="presParOf" srcId="{E3B22CF8-BCDE-4B7F-BD68-005C98561E8D}" destId="{5897F6F1-2800-424D-9051-BEFF232CD652}" srcOrd="3" destOrd="0" presId="urn:microsoft.com/office/officeart/2018/5/layout/IconCircleLabelList"/>
    <dgm:cxn modelId="{AA29285E-360B-4BC3-B108-A81D2E363B94}" type="presParOf" srcId="{89A82C1B-10AD-41BA-9F7A-4A2A7CB0D823}" destId="{BE6D23B9-4BBE-4573-8812-ECB4184D5145}" srcOrd="7" destOrd="0" presId="urn:microsoft.com/office/officeart/2018/5/layout/IconCircleLabelList"/>
    <dgm:cxn modelId="{A1AC901E-92B6-4865-8B2B-0BFD4DCBE32C}" type="presParOf" srcId="{89A82C1B-10AD-41BA-9F7A-4A2A7CB0D823}" destId="{EBCD70D2-AB89-4C0B-B6A3-C207D2D1AA1F}" srcOrd="8" destOrd="0" presId="urn:microsoft.com/office/officeart/2018/5/layout/IconCircleLabelList"/>
    <dgm:cxn modelId="{54A8CB85-8C9A-488E-ADDB-8CA7C9F43D0B}" type="presParOf" srcId="{EBCD70D2-AB89-4C0B-B6A3-C207D2D1AA1F}" destId="{E4F96173-097E-4FDB-B5DB-AE25319594F8}" srcOrd="0" destOrd="0" presId="urn:microsoft.com/office/officeart/2018/5/layout/IconCircleLabelList"/>
    <dgm:cxn modelId="{158D1EB4-99C3-474B-80B5-E1A548AE7CC5}" type="presParOf" srcId="{EBCD70D2-AB89-4C0B-B6A3-C207D2D1AA1F}" destId="{3B5B5E67-C554-45E3-8DE7-125843F9FEC5}" srcOrd="1" destOrd="0" presId="urn:microsoft.com/office/officeart/2018/5/layout/IconCircleLabelList"/>
    <dgm:cxn modelId="{CBAD7D43-254F-4E2C-9A18-D84E306AC994}" type="presParOf" srcId="{EBCD70D2-AB89-4C0B-B6A3-C207D2D1AA1F}" destId="{FA25417F-F55F-4A4C-A70D-BDA2049F4720}" srcOrd="2" destOrd="0" presId="urn:microsoft.com/office/officeart/2018/5/layout/IconCircleLabelList"/>
    <dgm:cxn modelId="{D76BBC55-B937-4F8E-AB27-0A803FDA5E23}" type="presParOf" srcId="{EBCD70D2-AB89-4C0B-B6A3-C207D2D1AA1F}" destId="{CFA4D968-6FB8-4225-A86A-47F9F1F90A49}" srcOrd="3" destOrd="0" presId="urn:microsoft.com/office/officeart/2018/5/layout/IconCircleLabelList"/>
    <dgm:cxn modelId="{65256253-12E6-43CD-B184-6F2C3C19458D}" type="presParOf" srcId="{89A82C1B-10AD-41BA-9F7A-4A2A7CB0D823}" destId="{4BBD3F7A-BD68-483A-BA7B-E82B7AD51EF0}" srcOrd="9" destOrd="0" presId="urn:microsoft.com/office/officeart/2018/5/layout/IconCircleLabelList"/>
    <dgm:cxn modelId="{E6F0BB8F-C7AB-4AC0-8859-DD92B8E3FECD}" type="presParOf" srcId="{89A82C1B-10AD-41BA-9F7A-4A2A7CB0D823}" destId="{206E4DDF-098B-412A-8FD7-BF41FD8642E7}" srcOrd="10" destOrd="0" presId="urn:microsoft.com/office/officeart/2018/5/layout/IconCircleLabelList"/>
    <dgm:cxn modelId="{3426FC0C-1ADD-41EE-A9A5-912A65F0AE94}" type="presParOf" srcId="{206E4DDF-098B-412A-8FD7-BF41FD8642E7}" destId="{FF3DA61B-74E5-46C0-881D-71E964852DC1}" srcOrd="0" destOrd="0" presId="urn:microsoft.com/office/officeart/2018/5/layout/IconCircleLabelList"/>
    <dgm:cxn modelId="{3F1ACB51-6A3A-42D1-A9A3-6EC90B720BFB}" type="presParOf" srcId="{206E4DDF-098B-412A-8FD7-BF41FD8642E7}" destId="{8D2DFE09-AF66-4702-A8A8-BC44CD545F88}" srcOrd="1" destOrd="0" presId="urn:microsoft.com/office/officeart/2018/5/layout/IconCircleLabelList"/>
    <dgm:cxn modelId="{FF829C86-36CB-44D7-B78B-1CE526B72858}" type="presParOf" srcId="{206E4DDF-098B-412A-8FD7-BF41FD8642E7}" destId="{325DCC85-25D2-439B-8A90-705CB85FF29C}" srcOrd="2" destOrd="0" presId="urn:microsoft.com/office/officeart/2018/5/layout/IconCircleLabelList"/>
    <dgm:cxn modelId="{E9359BC0-45D4-4D5E-A7E3-30FCA8DFC802}" type="presParOf" srcId="{206E4DDF-098B-412A-8FD7-BF41FD8642E7}" destId="{07F621E9-93FD-4256-8233-AA22AC46BDBC}" srcOrd="3" destOrd="0" presId="urn:microsoft.com/office/officeart/2018/5/layout/IconCircleLabelList"/>
    <dgm:cxn modelId="{4077E9D6-905B-4D3A-9E7B-210E6F4D2764}" type="presParOf" srcId="{89A82C1B-10AD-41BA-9F7A-4A2A7CB0D823}" destId="{89E45E4C-0D05-4986-9C95-71E0AB32AA95}" srcOrd="11" destOrd="0" presId="urn:microsoft.com/office/officeart/2018/5/layout/IconCircleLabelList"/>
    <dgm:cxn modelId="{8AC77564-5D59-4069-ACA7-E0A2E62F80BC}" type="presParOf" srcId="{89A82C1B-10AD-41BA-9F7A-4A2A7CB0D823}" destId="{9332407B-DB21-4D03-98DD-AC613F47F9D8}" srcOrd="12" destOrd="0" presId="urn:microsoft.com/office/officeart/2018/5/layout/IconCircleLabelList"/>
    <dgm:cxn modelId="{E08FAA81-1D68-499D-BDAF-051369A4B3B1}" type="presParOf" srcId="{9332407B-DB21-4D03-98DD-AC613F47F9D8}" destId="{F61E3DDE-AC16-4D0E-8F68-8742295EF847}" srcOrd="0" destOrd="0" presId="urn:microsoft.com/office/officeart/2018/5/layout/IconCircleLabelList"/>
    <dgm:cxn modelId="{4B9DF686-0E33-4D11-BE93-BDB5A3F82840}" type="presParOf" srcId="{9332407B-DB21-4D03-98DD-AC613F47F9D8}" destId="{82D26907-4D27-45C7-B89C-F9AF92C59793}" srcOrd="1" destOrd="0" presId="urn:microsoft.com/office/officeart/2018/5/layout/IconCircleLabelList"/>
    <dgm:cxn modelId="{8E1CCB4C-86D4-4D94-8795-1696CC9F3357}" type="presParOf" srcId="{9332407B-DB21-4D03-98DD-AC613F47F9D8}" destId="{E1DEED41-BE25-4AD7-AB79-D294D6B2855E}" srcOrd="2" destOrd="0" presId="urn:microsoft.com/office/officeart/2018/5/layout/IconCircleLabelList"/>
    <dgm:cxn modelId="{D105172B-1268-4EA4-B68D-B652A61774E7}" type="presParOf" srcId="{9332407B-DB21-4D03-98DD-AC613F47F9D8}" destId="{96F66CEA-C130-485A-A13E-E223D0A0D7D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B0B5B-36FB-42E5-AA6D-F3497CCE5813}">
      <dsp:nvSpPr>
        <dsp:cNvPr id="0" name=""/>
        <dsp:cNvSpPr/>
      </dsp:nvSpPr>
      <dsp:spPr>
        <a:xfrm rot="16200000">
          <a:off x="1293223" y="-1293223"/>
          <a:ext cx="1802674" cy="4389120"/>
        </a:xfrm>
        <a:prstGeom prst="round1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Active Employees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24895</a:t>
          </a:r>
        </a:p>
      </dsp:txBody>
      <dsp:txXfrm rot="5400000">
        <a:off x="0" y="0"/>
        <a:ext cx="4389120" cy="1352005"/>
      </dsp:txXfrm>
    </dsp:sp>
    <dsp:sp modelId="{DC6EC087-D5FE-48F5-8F0B-8E77AEDBD3B6}">
      <dsp:nvSpPr>
        <dsp:cNvPr id="0" name=""/>
        <dsp:cNvSpPr/>
      </dsp:nvSpPr>
      <dsp:spPr>
        <a:xfrm>
          <a:off x="4389120" y="0"/>
          <a:ext cx="4389120" cy="1802674"/>
        </a:xfrm>
        <a:prstGeom prst="round1Rect">
          <a:avLst/>
        </a:prstGeom>
        <a:gradFill rotWithShape="0">
          <a:gsLst>
            <a:gs pos="0">
              <a:schemeClr val="accent6">
                <a:shade val="80000"/>
                <a:hueOff val="-169651"/>
                <a:satOff val="-8445"/>
                <a:lumOff val="107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169651"/>
                <a:satOff val="-8445"/>
                <a:lumOff val="107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169651"/>
                <a:satOff val="-8445"/>
                <a:lumOff val="107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Attrition Rate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50.21%</a:t>
          </a:r>
        </a:p>
      </dsp:txBody>
      <dsp:txXfrm>
        <a:off x="4389120" y="0"/>
        <a:ext cx="4389120" cy="1352005"/>
      </dsp:txXfrm>
    </dsp:sp>
    <dsp:sp modelId="{8FAC8458-7C03-4C7A-AA92-D0B7F9CF2188}">
      <dsp:nvSpPr>
        <dsp:cNvPr id="0" name=""/>
        <dsp:cNvSpPr/>
      </dsp:nvSpPr>
      <dsp:spPr>
        <a:xfrm rot="10800000">
          <a:off x="0" y="1802674"/>
          <a:ext cx="4389120" cy="1802674"/>
        </a:xfrm>
        <a:prstGeom prst="round1Rect">
          <a:avLst/>
        </a:prstGeom>
        <a:gradFill rotWithShape="0">
          <a:gsLst>
            <a:gs pos="0">
              <a:schemeClr val="accent6">
                <a:shade val="80000"/>
                <a:hueOff val="-339301"/>
                <a:satOff val="-16890"/>
                <a:lumOff val="215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339301"/>
                <a:satOff val="-16890"/>
                <a:lumOff val="215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339301"/>
                <a:satOff val="-16890"/>
                <a:lumOff val="215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Female Attrition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12560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cap="none" spc="50" dirty="0">
            <a:ln w="0"/>
            <a:effectLst>
              <a:innerShdw blurRad="63500" dist="50800" dir="13500000">
                <a:srgbClr val="000000">
                  <a:alpha val="50000"/>
                </a:srgbClr>
              </a:innerShdw>
            </a:effectLst>
          </a:endParaRPr>
        </a:p>
      </dsp:txBody>
      <dsp:txXfrm rot="10800000">
        <a:off x="0" y="2253342"/>
        <a:ext cx="4389120" cy="1352005"/>
      </dsp:txXfrm>
    </dsp:sp>
    <dsp:sp modelId="{2174AA41-3F37-4512-BC7A-949485983C8C}">
      <dsp:nvSpPr>
        <dsp:cNvPr id="0" name=""/>
        <dsp:cNvSpPr/>
      </dsp:nvSpPr>
      <dsp:spPr>
        <a:xfrm rot="5400000">
          <a:off x="5682343" y="509450"/>
          <a:ext cx="1802674" cy="4389120"/>
        </a:xfrm>
        <a:prstGeom prst="round1Rect">
          <a:avLst/>
        </a:prstGeom>
        <a:gradFill rotWithShape="0">
          <a:gsLst>
            <a:gs pos="0">
              <a:schemeClr val="accent6">
                <a:shade val="80000"/>
                <a:hueOff val="-508952"/>
                <a:satOff val="-25335"/>
                <a:lumOff val="323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508952"/>
                <a:satOff val="-25335"/>
                <a:lumOff val="323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508952"/>
                <a:satOff val="-25335"/>
                <a:lumOff val="323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Male Attrition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12545 </a:t>
          </a:r>
        </a:p>
      </dsp:txBody>
      <dsp:txXfrm rot="-5400000">
        <a:off x="4389121" y="2253342"/>
        <a:ext cx="4389120" cy="1352005"/>
      </dsp:txXfrm>
    </dsp:sp>
    <dsp:sp modelId="{B005349E-97A4-44A9-868A-05B315B96F42}">
      <dsp:nvSpPr>
        <dsp:cNvPr id="0" name=""/>
        <dsp:cNvSpPr/>
      </dsp:nvSpPr>
      <dsp:spPr>
        <a:xfrm>
          <a:off x="2595949" y="1329656"/>
          <a:ext cx="3586341" cy="946034"/>
        </a:xfrm>
        <a:prstGeom prst="roundRect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2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Total Employees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200" b="1" kern="1200" cap="none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lgerian" panose="04020705040A02060702" pitchFamily="82" charset="0"/>
            </a:rPr>
            <a:t>50000 </a:t>
          </a:r>
        </a:p>
      </dsp:txBody>
      <dsp:txXfrm>
        <a:off x="2642131" y="1375838"/>
        <a:ext cx="3493977" cy="8536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2E6CC-B86E-4197-B28B-3A60F3B8014F}">
      <dsp:nvSpPr>
        <dsp:cNvPr id="0" name=""/>
        <dsp:cNvSpPr/>
      </dsp:nvSpPr>
      <dsp:spPr>
        <a:xfrm>
          <a:off x="275081" y="788776"/>
          <a:ext cx="847089" cy="8470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EF610-B6C2-4F5E-9D36-E080C7715F5F}">
      <dsp:nvSpPr>
        <dsp:cNvPr id="0" name=""/>
        <dsp:cNvSpPr/>
      </dsp:nvSpPr>
      <dsp:spPr>
        <a:xfrm>
          <a:off x="455609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7CE23-76D7-4164-991B-1B5FD629F76A}">
      <dsp:nvSpPr>
        <dsp:cNvPr id="0" name=""/>
        <dsp:cNvSpPr/>
      </dsp:nvSpPr>
      <dsp:spPr>
        <a:xfrm>
          <a:off x="4290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Employee Retention Strategies may be adopted by Management</a:t>
          </a:r>
          <a:r>
            <a:rPr lang="en-US" sz="1100" b="1" kern="1200" dirty="0"/>
            <a:t>.</a:t>
          </a:r>
          <a:endParaRPr lang="en-US" sz="1100" kern="1200" dirty="0"/>
        </a:p>
      </dsp:txBody>
      <dsp:txXfrm>
        <a:off x="4290" y="1899714"/>
        <a:ext cx="1388671" cy="1391384"/>
      </dsp:txXfrm>
    </dsp:sp>
    <dsp:sp modelId="{9A04F8A8-BBFA-48CB-8E09-6C3C67B24ACC}">
      <dsp:nvSpPr>
        <dsp:cNvPr id="0" name=""/>
        <dsp:cNvSpPr/>
      </dsp:nvSpPr>
      <dsp:spPr>
        <a:xfrm>
          <a:off x="1906771" y="788776"/>
          <a:ext cx="847089" cy="8470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484585-8A1F-4B30-9D5B-B76B7639D9F0}">
      <dsp:nvSpPr>
        <dsp:cNvPr id="0" name=""/>
        <dsp:cNvSpPr/>
      </dsp:nvSpPr>
      <dsp:spPr>
        <a:xfrm>
          <a:off x="2087298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4E9F6-C161-48FF-B7BC-D3383612B248}">
      <dsp:nvSpPr>
        <dsp:cNvPr id="0" name=""/>
        <dsp:cNvSpPr/>
      </dsp:nvSpPr>
      <dsp:spPr>
        <a:xfrm>
          <a:off x="1635980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Provide a conducive working environment to employees</a:t>
          </a:r>
          <a:r>
            <a:rPr lang="en-US" sz="1100" b="1" kern="1200" dirty="0"/>
            <a:t>.</a:t>
          </a:r>
          <a:endParaRPr lang="en-US" sz="1100" kern="1200" dirty="0"/>
        </a:p>
      </dsp:txBody>
      <dsp:txXfrm>
        <a:off x="1635980" y="1899714"/>
        <a:ext cx="1388671" cy="1391384"/>
      </dsp:txXfrm>
    </dsp:sp>
    <dsp:sp modelId="{9F0AE054-B18D-47A2-A20C-75AFED7970D7}">
      <dsp:nvSpPr>
        <dsp:cNvPr id="0" name=""/>
        <dsp:cNvSpPr/>
      </dsp:nvSpPr>
      <dsp:spPr>
        <a:xfrm>
          <a:off x="3538460" y="788776"/>
          <a:ext cx="847089" cy="8470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CE9FF-E275-449E-BD82-5500B94318C3}">
      <dsp:nvSpPr>
        <dsp:cNvPr id="0" name=""/>
        <dsp:cNvSpPr/>
      </dsp:nvSpPr>
      <dsp:spPr>
        <a:xfrm>
          <a:off x="3718987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ADA24-4480-462A-992E-0A48F2B68B54}">
      <dsp:nvSpPr>
        <dsp:cNvPr id="0" name=""/>
        <dsp:cNvSpPr/>
      </dsp:nvSpPr>
      <dsp:spPr>
        <a:xfrm>
          <a:off x="3267669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Regular checks on workload of employees and reallocation of tasks, if needed.</a:t>
          </a:r>
          <a:endParaRPr lang="en-US" sz="1200" kern="1200" dirty="0"/>
        </a:p>
      </dsp:txBody>
      <dsp:txXfrm>
        <a:off x="3267669" y="1899714"/>
        <a:ext cx="1388671" cy="1391384"/>
      </dsp:txXfrm>
    </dsp:sp>
    <dsp:sp modelId="{4F61D19F-B49C-4740-91E0-20EC07C4D059}">
      <dsp:nvSpPr>
        <dsp:cNvPr id="0" name=""/>
        <dsp:cNvSpPr/>
      </dsp:nvSpPr>
      <dsp:spPr>
        <a:xfrm>
          <a:off x="5170150" y="788776"/>
          <a:ext cx="847089" cy="8470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D6584-D0DB-42EE-B3DA-8818379E6C5F}">
      <dsp:nvSpPr>
        <dsp:cNvPr id="0" name=""/>
        <dsp:cNvSpPr/>
      </dsp:nvSpPr>
      <dsp:spPr>
        <a:xfrm>
          <a:off x="5350677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97F6F1-2800-424D-9051-BEFF232CD652}">
      <dsp:nvSpPr>
        <dsp:cNvPr id="0" name=""/>
        <dsp:cNvSpPr/>
      </dsp:nvSpPr>
      <dsp:spPr>
        <a:xfrm>
          <a:off x="4899359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Bi-monthly Performance analysis of all departments.</a:t>
          </a:r>
          <a:endParaRPr lang="en-US" sz="1200" kern="1200" dirty="0"/>
        </a:p>
      </dsp:txBody>
      <dsp:txXfrm>
        <a:off x="4899359" y="1899714"/>
        <a:ext cx="1388671" cy="1391384"/>
      </dsp:txXfrm>
    </dsp:sp>
    <dsp:sp modelId="{E4F96173-097E-4FDB-B5DB-AE25319594F8}">
      <dsp:nvSpPr>
        <dsp:cNvPr id="0" name=""/>
        <dsp:cNvSpPr/>
      </dsp:nvSpPr>
      <dsp:spPr>
        <a:xfrm>
          <a:off x="6801839" y="788776"/>
          <a:ext cx="847089" cy="84708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B5E67-C554-45E3-8DE7-125843F9FEC5}">
      <dsp:nvSpPr>
        <dsp:cNvPr id="0" name=""/>
        <dsp:cNvSpPr/>
      </dsp:nvSpPr>
      <dsp:spPr>
        <a:xfrm>
          <a:off x="6982366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4D968-6FB8-4225-A86A-47F9F1F90A49}">
      <dsp:nvSpPr>
        <dsp:cNvPr id="0" name=""/>
        <dsp:cNvSpPr/>
      </dsp:nvSpPr>
      <dsp:spPr>
        <a:xfrm>
          <a:off x="6531048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To Lower attrition level arising due to travel distance, accommodation or conveyances facilities / allowances may be provided to employees.</a:t>
          </a:r>
          <a:endParaRPr lang="en-US" sz="1200" kern="1200" dirty="0"/>
        </a:p>
      </dsp:txBody>
      <dsp:txXfrm>
        <a:off x="6531048" y="1899714"/>
        <a:ext cx="1388671" cy="1391384"/>
      </dsp:txXfrm>
    </dsp:sp>
    <dsp:sp modelId="{FF3DA61B-74E5-46C0-881D-71E964852DC1}">
      <dsp:nvSpPr>
        <dsp:cNvPr id="0" name=""/>
        <dsp:cNvSpPr/>
      </dsp:nvSpPr>
      <dsp:spPr>
        <a:xfrm>
          <a:off x="8433528" y="788776"/>
          <a:ext cx="847089" cy="8470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DFE09-AF66-4702-A8A8-BC44CD545F88}">
      <dsp:nvSpPr>
        <dsp:cNvPr id="0" name=""/>
        <dsp:cNvSpPr/>
      </dsp:nvSpPr>
      <dsp:spPr>
        <a:xfrm>
          <a:off x="8614056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621E9-93FD-4256-8233-AA22AC46BDBC}">
      <dsp:nvSpPr>
        <dsp:cNvPr id="0" name=""/>
        <dsp:cNvSpPr/>
      </dsp:nvSpPr>
      <dsp:spPr>
        <a:xfrm>
          <a:off x="8162737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Monthly Income of employees commensurate with the market rates. Equal pay policy for same work maybe ensured.</a:t>
          </a:r>
          <a:endParaRPr lang="en-US" sz="1200" kern="1200" dirty="0"/>
        </a:p>
      </dsp:txBody>
      <dsp:txXfrm>
        <a:off x="8162737" y="1899714"/>
        <a:ext cx="1388671" cy="1391384"/>
      </dsp:txXfrm>
    </dsp:sp>
    <dsp:sp modelId="{F61E3DDE-AC16-4D0E-8F68-8742295EF847}">
      <dsp:nvSpPr>
        <dsp:cNvPr id="0" name=""/>
        <dsp:cNvSpPr/>
      </dsp:nvSpPr>
      <dsp:spPr>
        <a:xfrm>
          <a:off x="10065218" y="788776"/>
          <a:ext cx="847089" cy="8470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26907-4D27-45C7-B89C-F9AF92C59793}">
      <dsp:nvSpPr>
        <dsp:cNvPr id="0" name=""/>
        <dsp:cNvSpPr/>
      </dsp:nvSpPr>
      <dsp:spPr>
        <a:xfrm>
          <a:off x="10245745" y="969304"/>
          <a:ext cx="486035" cy="48603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66CEA-C130-485A-A13E-E223D0A0D7DF}">
      <dsp:nvSpPr>
        <dsp:cNvPr id="0" name=""/>
        <dsp:cNvSpPr/>
      </dsp:nvSpPr>
      <dsp:spPr>
        <a:xfrm>
          <a:off x="9794427" y="1899714"/>
          <a:ext cx="1388671" cy="139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 dirty="0"/>
            <a:t>Trainings / mentorship programs may be provided to employees for efficient working.</a:t>
          </a:r>
          <a:endParaRPr lang="en-US" sz="1200" kern="1200" dirty="0"/>
        </a:p>
      </dsp:txBody>
      <dsp:txXfrm>
        <a:off x="9794427" y="1899714"/>
        <a:ext cx="1388671" cy="1391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2B473-25CF-4A40-861C-55507E077235}" type="datetimeFigureOut">
              <a:rPr lang="en-IN" smtClean="0"/>
              <a:t>16-03-2024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612F2-8251-4A58-AA82-028ABED2B7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96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49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70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27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78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960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612F2-8251-4A58-AA82-028ABED2B7E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5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6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5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0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3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0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6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6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9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6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3/16/2024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102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60" r:id="rId4"/>
    <p:sldLayoutId id="2147483761" r:id="rId5"/>
    <p:sldLayoutId id="2147483762" r:id="rId6"/>
    <p:sldLayoutId id="2147483767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1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3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olor Fill">
            <a:extLst>
              <a:ext uri="{FF2B5EF4-FFF2-40B4-BE49-F238E27FC236}">
                <a16:creationId xmlns:a16="http://schemas.microsoft.com/office/drawing/2014/main" id="{774C59F6-927E-4017-B42A-7B08AAE1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ure">
            <a:extLst>
              <a:ext uri="{FF2B5EF4-FFF2-40B4-BE49-F238E27FC236}">
                <a16:creationId xmlns:a16="http://schemas.microsoft.com/office/drawing/2014/main" id="{6ECF82C0-05FE-4A82-B7AC-32C94138E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Content Placeholder 4" descr="A close-up of a person's head">
            <a:extLst>
              <a:ext uri="{FF2B5EF4-FFF2-40B4-BE49-F238E27FC236}">
                <a16:creationId xmlns:a16="http://schemas.microsoft.com/office/drawing/2014/main" id="{7705E265-CE91-ED3F-6401-6D281371F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8"/>
          <a:stretch/>
        </p:blipFill>
        <p:spPr>
          <a:xfrm>
            <a:off x="457201" y="602379"/>
            <a:ext cx="11234056" cy="56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0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07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09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16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8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5" name="Graphic 9">
            <a:extLst>
              <a:ext uri="{FF2B5EF4-FFF2-40B4-BE49-F238E27FC236}">
                <a16:creationId xmlns:a16="http://schemas.microsoft.com/office/drawing/2014/main" id="{61D32E23-CD34-4C85-8167-14669FD3E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1818" y="16444"/>
            <a:ext cx="6893328" cy="6846993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rgbClr val="FFFFFF"/>
          </a:solidFill>
          <a:ln w="3810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7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64E90-D96A-D4DD-8CEB-D1BD42B28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7987" y="519204"/>
            <a:ext cx="6012118" cy="132556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600" b="1" u="sng" dirty="0"/>
              <a:t>EMPLOYEE</a:t>
            </a:r>
            <a:r>
              <a:rPr lang="en-US" sz="3600" b="1" dirty="0"/>
              <a:t> </a:t>
            </a:r>
            <a:r>
              <a:rPr lang="en-US" sz="3600" b="1" u="sng" dirty="0"/>
              <a:t>ATTRITION</a:t>
            </a:r>
            <a:r>
              <a:rPr lang="en-US" sz="3600" b="1" dirty="0"/>
              <a:t> </a:t>
            </a:r>
            <a:r>
              <a:rPr lang="en-US" sz="3600" b="1" u="sng" dirty="0"/>
              <a:t>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3B3D2-67D0-2570-5C40-FA7B1D9071A4}"/>
              </a:ext>
            </a:extLst>
          </p:cNvPr>
          <p:cNvSpPr txBox="1"/>
          <p:nvPr/>
        </p:nvSpPr>
        <p:spPr>
          <a:xfrm>
            <a:off x="541305" y="3147823"/>
            <a:ext cx="4640729" cy="3887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Presented By - (Group 2)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Atul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Akshay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Mohammad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Gayatri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Prabhleen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Pratiksha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6B99D-BE16-FBA9-31DD-173971B20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47"/>
          <a:stretch/>
        </p:blipFill>
        <p:spPr>
          <a:xfrm>
            <a:off x="6094476" y="951578"/>
            <a:ext cx="4933889" cy="462660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0">
            <a:solidFill>
              <a:schemeClr val="tx2">
                <a:lumMod val="75000"/>
                <a:lumOff val="25000"/>
              </a:schemeClr>
            </a:solidFill>
          </a:ln>
          <a:effectLst>
            <a:glow rad="228600">
              <a:schemeClr val="accent6">
                <a:lumMod val="60000"/>
                <a:lumOff val="4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481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2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olor Fill">
            <a:extLst>
              <a:ext uri="{FF2B5EF4-FFF2-40B4-BE49-F238E27FC236}">
                <a16:creationId xmlns:a16="http://schemas.microsoft.com/office/drawing/2014/main" id="{774C59F6-927E-4017-B42A-7B08AAE1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pattFill prst="pct5">
            <a:fgClr>
              <a:schemeClr val="accent4">
                <a:lumMod val="50000"/>
              </a:schemeClr>
            </a:fgClr>
            <a:bgClr>
              <a:schemeClr val="accent4">
                <a:lumMod val="75000"/>
              </a:schemeClr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ure">
            <a:extLst>
              <a:ext uri="{FF2B5EF4-FFF2-40B4-BE49-F238E27FC236}">
                <a16:creationId xmlns:a16="http://schemas.microsoft.com/office/drawing/2014/main" id="{CBA62C31-0C99-4D6C-BD25-B0CF2996B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EECEB-6D1C-52E8-56E1-769BBF30FA8F}"/>
              </a:ext>
            </a:extLst>
          </p:cNvPr>
          <p:cNvSpPr txBox="1"/>
          <p:nvPr/>
        </p:nvSpPr>
        <p:spPr>
          <a:xfrm>
            <a:off x="4361205" y="226816"/>
            <a:ext cx="4180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 - 1</a:t>
            </a:r>
            <a:endParaRPr lang="en-IN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FFC474-CCE4-BF9C-7CDE-B3F3BCFDD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49" y="951579"/>
            <a:ext cx="11721737" cy="56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50000"/>
              <a:lumOff val="50000"/>
            </a:schemeClr>
          </a:fgClr>
          <a:bgClr>
            <a:schemeClr val="bg2">
              <a:lumMod val="50000"/>
              <a:lumOff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2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olor Fill">
            <a:extLst>
              <a:ext uri="{FF2B5EF4-FFF2-40B4-BE49-F238E27FC236}">
                <a16:creationId xmlns:a16="http://schemas.microsoft.com/office/drawing/2014/main" id="{774C59F6-927E-4017-B42A-7B08AAE1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pattFill prst="pct5">
            <a:fgClr>
              <a:schemeClr val="accent4">
                <a:lumMod val="50000"/>
              </a:schemeClr>
            </a:fgClr>
            <a:bgClr>
              <a:schemeClr val="accent4">
                <a:lumMod val="75000"/>
              </a:schemeClr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ure">
            <a:extLst>
              <a:ext uri="{FF2B5EF4-FFF2-40B4-BE49-F238E27FC236}">
                <a16:creationId xmlns:a16="http://schemas.microsoft.com/office/drawing/2014/main" id="{CBA62C31-0C99-4D6C-BD25-B0CF2996B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778B2-8CED-0A80-260C-D97D3FFD8AE3}"/>
              </a:ext>
            </a:extLst>
          </p:cNvPr>
          <p:cNvSpPr txBox="1"/>
          <p:nvPr/>
        </p:nvSpPr>
        <p:spPr>
          <a:xfrm>
            <a:off x="4361205" y="226816"/>
            <a:ext cx="4180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DASHBOARD - 2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F749F-4A97-5A41-CB8C-32C3E111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906010"/>
            <a:ext cx="11919507" cy="5725173"/>
          </a:xfrm>
          <a:prstGeom prst="rect">
            <a:avLst/>
          </a:prstGeom>
          <a:blipFill dpi="0" rotWithShape="1">
            <a:blip r:embed="rId4">
              <a:alphaModFix amt="19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42755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494F00-2311-4F3B-9C5C-D0DC51F8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28124" y="-1190"/>
            <a:ext cx="5163876" cy="5940292"/>
            <a:chOff x="7028124" y="-1190"/>
            <a:chExt cx="5163876" cy="59402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D9D3BB-BBD1-437C-B3A6-BE1AE51FD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02463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Graphic 18">
              <a:extLst>
                <a:ext uri="{FF2B5EF4-FFF2-40B4-BE49-F238E27FC236}">
                  <a16:creationId xmlns:a16="http://schemas.microsoft.com/office/drawing/2014/main" id="{9D9C1E0A-95BE-40A6-8056-0ADC7606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600000">
              <a:off x="7312815" y="4858033"/>
              <a:ext cx="856614" cy="1305524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8D99D5D-6418-437D-B40C-89DF2A95F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28124" y="4672162"/>
              <a:ext cx="256132" cy="2561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3451BA2-4B19-4827-BD5A-5306C1AF1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36856" y="-1190"/>
              <a:ext cx="3597981" cy="1501977"/>
            </a:xfrm>
            <a:custGeom>
              <a:avLst/>
              <a:gdLst>
                <a:gd name="connsiteX0" fmla="*/ 0 w 3597981"/>
                <a:gd name="connsiteY0" fmla="*/ 0 h 1501977"/>
                <a:gd name="connsiteX1" fmla="*/ 3597981 w 3597981"/>
                <a:gd name="connsiteY1" fmla="*/ 0 h 1501977"/>
                <a:gd name="connsiteX2" fmla="*/ 3590068 w 3597981"/>
                <a:gd name="connsiteY2" fmla="*/ 51850 h 1501977"/>
                <a:gd name="connsiteX3" fmla="*/ 1810819 w 3597981"/>
                <a:gd name="connsiteY3" fmla="*/ 1501977 h 1501977"/>
                <a:gd name="connsiteX4" fmla="*/ 0 w 3597981"/>
                <a:gd name="connsiteY4" fmla="*/ 1501977 h 150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7981" h="1501977">
                  <a:moveTo>
                    <a:pt x="0" y="0"/>
                  </a:moveTo>
                  <a:lnTo>
                    <a:pt x="3597981" y="0"/>
                  </a:lnTo>
                  <a:lnTo>
                    <a:pt x="3590068" y="51850"/>
                  </a:lnTo>
                  <a:cubicBezTo>
                    <a:pt x="3420721" y="879443"/>
                    <a:pt x="2688479" y="1501977"/>
                    <a:pt x="1810819" y="1501977"/>
                  </a:cubicBezTo>
                  <a:lnTo>
                    <a:pt x="0" y="1501977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E6C41F-771F-428C-A9A7-CD50C1AE0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183332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ADB77-740C-0942-C088-7C42841C3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262"/>
            <a:ext cx="102108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Key Performance Indicators (KPIs)</a:t>
            </a:r>
            <a:endParaRPr lang="en-IN" dirty="0"/>
          </a:p>
        </p:txBody>
      </p:sp>
      <p:graphicFrame>
        <p:nvGraphicFramePr>
          <p:cNvPr id="4" name="Content Placeholder 11">
            <a:extLst>
              <a:ext uri="{FF2B5EF4-FFF2-40B4-BE49-F238E27FC236}">
                <a16:creationId xmlns:a16="http://schemas.microsoft.com/office/drawing/2014/main" id="{8347549E-5878-C5C2-E805-13326ECE17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795626"/>
              </p:ext>
            </p:extLst>
          </p:nvPr>
        </p:nvGraphicFramePr>
        <p:xfrm>
          <a:off x="1654628" y="2342606"/>
          <a:ext cx="8778241" cy="3605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053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40FD55-1858-A474-62B0-02833263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737" y="262710"/>
            <a:ext cx="6105102" cy="2996766"/>
          </a:xfrm>
          <a:ln w="19050">
            <a:noFill/>
          </a:ln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b="1" dirty="0"/>
              <a:t> Lowest Count </a:t>
            </a:r>
            <a:r>
              <a:rPr lang="en-US" dirty="0"/>
              <a:t>– 4678 employees in the age group of 18 to 25.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b="1" dirty="0"/>
              <a:t>Highest Count </a:t>
            </a:r>
            <a:r>
              <a:rPr lang="en-US" dirty="0"/>
              <a:t>– 8607 employees in the age group of 46 – 60.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000" dirty="0"/>
              <a:t>This shows that employees of age group 46-60 age are more prone to attrition as this age group is nearer to retirement age.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E5284-B77B-9280-A559-0F0E96748DC1}"/>
              </a:ext>
            </a:extLst>
          </p:cNvPr>
          <p:cNvSpPr txBox="1"/>
          <p:nvPr/>
        </p:nvSpPr>
        <p:spPr>
          <a:xfrm>
            <a:off x="138161" y="3363340"/>
            <a:ext cx="5605257" cy="350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sz="2000" b="1" dirty="0"/>
              <a:t>Lowest Count – </a:t>
            </a:r>
            <a:r>
              <a:rPr lang="en-US" sz="2000" dirty="0"/>
              <a:t>5.65k employees who have worked in less than 2 companies</a:t>
            </a:r>
            <a:r>
              <a:rPr lang="en-US" sz="2000" b="1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000" b="1" dirty="0"/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sz="2000" b="1" dirty="0"/>
              <a:t>Highest Count – </a:t>
            </a:r>
            <a:r>
              <a:rPr lang="en-US" sz="2000" dirty="0"/>
              <a:t>10.95k employees who have worked in 2 to 5 companies.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 marL="0" indent="0" algn="just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dirty="0"/>
              <a:t>Working in different working environments aids to dynamic thoughts of different employees that foster the organization growth.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25856-389B-3D5A-7203-DF444EE80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64" y="262709"/>
            <a:ext cx="5681559" cy="309035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90D2F-3B9E-D793-6778-6D0123DA4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951" y="3429000"/>
            <a:ext cx="5957839" cy="3259476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6519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E7C666-951B-866A-B2ED-4A2D9BF6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4370" y="262710"/>
            <a:ext cx="6119916" cy="285496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Out of Total 50000 employees, 25.33% employees are Unsatisfied with their jobs whereas 24.49% employees are   Highly Satisfied with their jobs.</a:t>
            </a:r>
            <a:endParaRPr lang="en-US" b="1" dirty="0"/>
          </a:p>
          <a:p>
            <a:pPr marL="0" indent="0" algn="just">
              <a:buNone/>
            </a:pPr>
            <a:r>
              <a:rPr lang="en-US" dirty="0"/>
              <a:t>This shows that almost ¼ of Total employees are Unsatisfied with their Jobs.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A374B-5770-8B17-ED88-31DFAD63D0EA}"/>
              </a:ext>
            </a:extLst>
          </p:cNvPr>
          <p:cNvSpPr txBox="1"/>
          <p:nvPr/>
        </p:nvSpPr>
        <p:spPr>
          <a:xfrm>
            <a:off x="288834" y="3429000"/>
            <a:ext cx="55655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Among different Job Roles the </a:t>
            </a:r>
            <a:r>
              <a:rPr lang="en-US" sz="2000" b="1" dirty="0"/>
              <a:t>highest attrition </a:t>
            </a:r>
            <a:r>
              <a:rPr lang="en-US" sz="2000" dirty="0"/>
              <a:t>rate of </a:t>
            </a:r>
            <a:r>
              <a:rPr lang="en-US" sz="2000" b="1" dirty="0"/>
              <a:t>10.15%</a:t>
            </a:r>
            <a:r>
              <a:rPr lang="en-US" sz="2000" dirty="0"/>
              <a:t> is seen in </a:t>
            </a:r>
            <a:r>
              <a:rPr lang="en-US" sz="2000" b="1" dirty="0"/>
              <a:t>Sales Executive </a:t>
            </a:r>
            <a:r>
              <a:rPr lang="en-US" sz="2000" dirty="0"/>
              <a:t>Job Role. On the other hand Research Scientist Job Role has the </a:t>
            </a:r>
            <a:r>
              <a:rPr lang="en-US" sz="2000" b="1" dirty="0"/>
              <a:t>lowest attrition </a:t>
            </a:r>
            <a:r>
              <a:rPr lang="en-US" sz="2000" dirty="0"/>
              <a:t>rate of </a:t>
            </a:r>
            <a:r>
              <a:rPr lang="en-US" sz="2000" b="1" dirty="0"/>
              <a:t>9.79%</a:t>
            </a:r>
            <a:r>
              <a:rPr lang="en-US" sz="2000" dirty="0"/>
              <a:t>. There is not much deviation seen. </a:t>
            </a:r>
          </a:p>
          <a:p>
            <a:endParaRPr lang="en-US" sz="2000" dirty="0"/>
          </a:p>
          <a:p>
            <a:r>
              <a:rPr lang="en-US" sz="2000" dirty="0"/>
              <a:t>However, a deeper analysis may be conducted to understand the specific factors contributing to attrition in different job roles.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2E9D4A-712A-4290-F80D-9FD0A60E2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204" y="3453892"/>
            <a:ext cx="5756914" cy="315167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B0929D-4DD6-26F4-9739-060401F90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34" y="262709"/>
            <a:ext cx="5464694" cy="3117416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2713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E7C666-951B-866A-B2ED-4A2D9BF6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897" y="262710"/>
            <a:ext cx="6338389" cy="3020420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dirty="0"/>
              <a:t>Higher attrition can be seen for the newly joined employees with many leaving the company within 1 year. Meanwhile a decreasing trend can be seen in attrition as the employees working years keep on increasing.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A374B-5770-8B17-ED88-31DFAD63D0EA}"/>
              </a:ext>
            </a:extLst>
          </p:cNvPr>
          <p:cNvSpPr txBox="1"/>
          <p:nvPr/>
        </p:nvSpPr>
        <p:spPr>
          <a:xfrm>
            <a:off x="147902" y="3574870"/>
            <a:ext cx="55655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/>
              <a:t>The overall average working years for all departments is </a:t>
            </a:r>
            <a:r>
              <a:rPr lang="en-IN" sz="2000" b="1" dirty="0"/>
              <a:t>20.50</a:t>
            </a:r>
            <a:r>
              <a:rPr lang="en-IN" sz="2000" dirty="0"/>
              <a:t>. The </a:t>
            </a:r>
            <a:r>
              <a:rPr lang="en-IN" sz="2000" b="1" dirty="0"/>
              <a:t>R&amp;D department </a:t>
            </a:r>
            <a:r>
              <a:rPr lang="en-IN" sz="2000" dirty="0"/>
              <a:t>has the </a:t>
            </a:r>
            <a:r>
              <a:rPr lang="en-IN" sz="2000" b="1" dirty="0"/>
              <a:t>highest attrition rate of 16.97% </a:t>
            </a:r>
            <a:r>
              <a:rPr lang="en-IN" sz="2000" dirty="0"/>
              <a:t>with </a:t>
            </a:r>
            <a:r>
              <a:rPr lang="en-IN" sz="2000" b="1" dirty="0"/>
              <a:t>lowest avg. working years 20.30</a:t>
            </a:r>
            <a:r>
              <a:rPr lang="en-IN" sz="2000" dirty="0"/>
              <a:t>. The lowest attrition rate (16.09%) is seen in Hardware department where avg. working years (20.48) is near to lowest value.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9DD009-D6B6-C81B-67A2-8518779D9905}"/>
              </a:ext>
            </a:extLst>
          </p:cNvPr>
          <p:cNvSpPr txBox="1">
            <a:spLocks/>
          </p:cNvSpPr>
          <p:nvPr/>
        </p:nvSpPr>
        <p:spPr>
          <a:xfrm>
            <a:off x="6091309" y="703386"/>
            <a:ext cx="5205047" cy="54160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F6D66-1AF1-239A-36F9-463D19FD88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" t="3123" r="3418"/>
          <a:stretch/>
        </p:blipFill>
        <p:spPr>
          <a:xfrm>
            <a:off x="6091309" y="3449780"/>
            <a:ext cx="5805761" cy="314551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F1C4A3-9B41-E742-3C52-8CF01C315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4" y="262708"/>
            <a:ext cx="5366707" cy="302042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5350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E7C666-951B-866A-B2ED-4A2D9BF6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897" y="262710"/>
            <a:ext cx="6338389" cy="285496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The average attrition ratio across all five departments falls within the range of 16.09% to 16.97%.</a:t>
            </a:r>
          </a:p>
          <a:p>
            <a:pPr marL="0" indent="0">
              <a:buNone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The R&amp;D department exhibit the </a:t>
            </a:r>
            <a:r>
              <a:rPr lang="en-IN" sz="2000" b="1" dirty="0"/>
              <a:t>highest attrition rate of 16.97% </a:t>
            </a:r>
            <a:r>
              <a:rPr lang="en-IN" sz="2000" dirty="0"/>
              <a:t>while the Hardware department have relatively </a:t>
            </a:r>
            <a:r>
              <a:rPr lang="en-IN" sz="2000" b="1" dirty="0"/>
              <a:t>lower attrition of 16.09%.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A374B-5770-8B17-ED88-31DFAD63D0EA}"/>
              </a:ext>
            </a:extLst>
          </p:cNvPr>
          <p:cNvSpPr txBox="1"/>
          <p:nvPr/>
        </p:nvSpPr>
        <p:spPr>
          <a:xfrm>
            <a:off x="147902" y="3574870"/>
            <a:ext cx="55655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The lowest avg. monthly income paid to employees has a high rate of attrition. </a:t>
            </a:r>
            <a:r>
              <a:rPr lang="en-US" sz="2000" b="1" dirty="0"/>
              <a:t>R&amp;D department</a:t>
            </a:r>
            <a:r>
              <a:rPr lang="en-US" sz="2000" dirty="0"/>
              <a:t> is paying low salary of Rs. 26007 to employees and attrition rate is noted as </a:t>
            </a:r>
            <a:r>
              <a:rPr lang="en-US" sz="2000" b="1" dirty="0"/>
              <a:t>16.97%.</a:t>
            </a:r>
          </a:p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Low Monthly income of employees seems to be a reason behind high attrition.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9DD009-D6B6-C81B-67A2-8518779D9905}"/>
              </a:ext>
            </a:extLst>
          </p:cNvPr>
          <p:cNvSpPr txBox="1">
            <a:spLocks/>
          </p:cNvSpPr>
          <p:nvPr/>
        </p:nvSpPr>
        <p:spPr>
          <a:xfrm>
            <a:off x="6091309" y="703386"/>
            <a:ext cx="5205047" cy="54160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78481B-B808-7F01-1E9D-E44D37CFC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87" y="262708"/>
            <a:ext cx="5279708" cy="297536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42D8E4-09F5-0667-46F5-086BE4D29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49780"/>
            <a:ext cx="5889997" cy="302214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7171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4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E7C666-951B-866A-B2ED-4A2D9BF6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897" y="262710"/>
            <a:ext cx="6338389" cy="2854960"/>
          </a:xfrm>
        </p:spPr>
        <p:txBody>
          <a:bodyPr/>
          <a:lstStyle/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en-US" dirty="0"/>
              <a:t>This visual shows us the Highest attrition for the people belonging to the Medical field which stands at 8.61k having a rate of 17.21%. </a:t>
            </a:r>
          </a:p>
          <a:p>
            <a:pPr marL="0" lv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Special attention should be given for the employees belonging to the Medical field</a:t>
            </a:r>
            <a:endParaRPr lang="en-IN" dirty="0"/>
          </a:p>
          <a:p>
            <a:pPr marL="0" lvl="0" indent="0" algn="just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A374B-5770-8B17-ED88-31DFAD63D0EA}"/>
              </a:ext>
            </a:extLst>
          </p:cNvPr>
          <p:cNvSpPr txBox="1"/>
          <p:nvPr/>
        </p:nvSpPr>
        <p:spPr>
          <a:xfrm>
            <a:off x="147902" y="3574870"/>
            <a:ext cx="55655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dirty="0"/>
              <a:t>This graph shows that almost half of total  attrition (13k) is due to the highest percentage of 49.86% employees residing Very Far from Office as compared to the employees residing far or even near the office.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dirty="0"/>
          </a:p>
          <a:p>
            <a:pPr algn="just"/>
            <a:r>
              <a:rPr lang="en-US" sz="2000" dirty="0"/>
              <a:t>It indicates that majority of employees residing far from office are leaving the organization.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9DD009-D6B6-C81B-67A2-8518779D9905}"/>
              </a:ext>
            </a:extLst>
          </p:cNvPr>
          <p:cNvSpPr txBox="1">
            <a:spLocks/>
          </p:cNvSpPr>
          <p:nvPr/>
        </p:nvSpPr>
        <p:spPr>
          <a:xfrm>
            <a:off x="6091309" y="703386"/>
            <a:ext cx="5205047" cy="54160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D1E22-02EA-B180-3CDE-42177D90D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3" y="262707"/>
            <a:ext cx="5277396" cy="30476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314F1-DA81-905A-463F-C54C0BC83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930" y="3544789"/>
            <a:ext cx="5876530" cy="305050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6880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Color Fill">
            <a:extLst>
              <a:ext uri="{FF2B5EF4-FFF2-40B4-BE49-F238E27FC236}">
                <a16:creationId xmlns:a16="http://schemas.microsoft.com/office/drawing/2014/main" id="{3FFB0B4B-B126-43E0-A25C-BA563433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6404A68-5931-43D8-B2F1-B632DAC4E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49180" y="-1190"/>
            <a:ext cx="4263283" cy="6859191"/>
            <a:chOff x="7649180" y="-1190"/>
            <a:chExt cx="4263283" cy="6859191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A39B074-6320-47A6-B37F-11F5C092F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02463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Graphic 18">
              <a:extLst>
                <a:ext uri="{FF2B5EF4-FFF2-40B4-BE49-F238E27FC236}">
                  <a16:creationId xmlns:a16="http://schemas.microsoft.com/office/drawing/2014/main" id="{BC943D3E-EE8F-41E2-BAE3-C16E786F9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49180" y="4581409"/>
              <a:ext cx="856614" cy="1305524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1372153-F8F4-4C78-9183-AB99ED32D8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66922" y="5224794"/>
              <a:ext cx="439469" cy="43946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53F320-7F87-42E2-826D-DCA61223C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9791" y="-1190"/>
              <a:ext cx="3522672" cy="1501977"/>
            </a:xfrm>
            <a:custGeom>
              <a:avLst/>
              <a:gdLst>
                <a:gd name="connsiteX0" fmla="*/ 0 w 3597981"/>
                <a:gd name="connsiteY0" fmla="*/ 0 h 1501977"/>
                <a:gd name="connsiteX1" fmla="*/ 3597981 w 3597981"/>
                <a:gd name="connsiteY1" fmla="*/ 0 h 1501977"/>
                <a:gd name="connsiteX2" fmla="*/ 3590068 w 3597981"/>
                <a:gd name="connsiteY2" fmla="*/ 51850 h 1501977"/>
                <a:gd name="connsiteX3" fmla="*/ 1810819 w 3597981"/>
                <a:gd name="connsiteY3" fmla="*/ 1501977 h 1501977"/>
                <a:gd name="connsiteX4" fmla="*/ 0 w 3597981"/>
                <a:gd name="connsiteY4" fmla="*/ 1501977 h 150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7981" h="1501977">
                  <a:moveTo>
                    <a:pt x="0" y="0"/>
                  </a:moveTo>
                  <a:lnTo>
                    <a:pt x="3597981" y="0"/>
                  </a:lnTo>
                  <a:lnTo>
                    <a:pt x="3590068" y="51850"/>
                  </a:lnTo>
                  <a:cubicBezTo>
                    <a:pt x="3420721" y="879443"/>
                    <a:pt x="2688479" y="1501977"/>
                    <a:pt x="1810819" y="1501977"/>
                  </a:cubicBezTo>
                  <a:lnTo>
                    <a:pt x="0" y="1501977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C73C35A-A029-4C6C-BECB-D73FCEC2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88140" y="5358010"/>
              <a:ext cx="3597678" cy="1499991"/>
            </a:xfrm>
            <a:custGeom>
              <a:avLst/>
              <a:gdLst>
                <a:gd name="connsiteX0" fmla="*/ 1786859 w 3597678"/>
                <a:gd name="connsiteY0" fmla="*/ 0 h 1499991"/>
                <a:gd name="connsiteX1" fmla="*/ 3597678 w 3597678"/>
                <a:gd name="connsiteY1" fmla="*/ 0 h 1499991"/>
                <a:gd name="connsiteX2" fmla="*/ 3597678 w 3597678"/>
                <a:gd name="connsiteY2" fmla="*/ 1499991 h 1499991"/>
                <a:gd name="connsiteX3" fmla="*/ 0 w 3597678"/>
                <a:gd name="connsiteY3" fmla="*/ 1499991 h 1499991"/>
                <a:gd name="connsiteX4" fmla="*/ 7610 w 3597678"/>
                <a:gd name="connsiteY4" fmla="*/ 1450127 h 1499991"/>
                <a:gd name="connsiteX5" fmla="*/ 1786859 w 3597678"/>
                <a:gd name="connsiteY5" fmla="*/ 0 h 1499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97678" h="1499991">
                  <a:moveTo>
                    <a:pt x="1786859" y="0"/>
                  </a:moveTo>
                  <a:lnTo>
                    <a:pt x="3597678" y="0"/>
                  </a:lnTo>
                  <a:lnTo>
                    <a:pt x="3597678" y="1499991"/>
                  </a:lnTo>
                  <a:lnTo>
                    <a:pt x="0" y="1499991"/>
                  </a:lnTo>
                  <a:lnTo>
                    <a:pt x="7610" y="1450127"/>
                  </a:lnTo>
                  <a:cubicBezTo>
                    <a:pt x="176957" y="622534"/>
                    <a:pt x="909198" y="0"/>
                    <a:pt x="1786859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Graphic 9">
              <a:extLst>
                <a:ext uri="{FF2B5EF4-FFF2-40B4-BE49-F238E27FC236}">
                  <a16:creationId xmlns:a16="http://schemas.microsoft.com/office/drawing/2014/main" id="{1F17AF78-D785-4C1C-B823-1B0A9F422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9791" y="1693710"/>
              <a:ext cx="3496027" cy="349602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F7F7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1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9150-8398-2E8F-DC0D-8CF01DDB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92" y="738554"/>
            <a:ext cx="7290542" cy="57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CONCLUSION OF ANALYSIS</a:t>
            </a:r>
          </a:p>
          <a:p>
            <a:endParaRPr lang="en-US" sz="1800" b="1" dirty="0"/>
          </a:p>
          <a:p>
            <a:pPr lvl="0" algn="just"/>
            <a:r>
              <a:rPr lang="en-IN" sz="1800" dirty="0"/>
              <a:t>As per the detailed analysis, the following conclusions may be drawn in terms of increased attrition rate:-</a:t>
            </a:r>
          </a:p>
          <a:p>
            <a:pPr lvl="0" algn="just"/>
            <a:endParaRPr lang="en-IN" sz="18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1800" dirty="0"/>
              <a:t>Attrition varies with different aspects like departments, income levels, tenure, education fields and commuting distances.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1800" dirty="0"/>
              <a:t>Employees from R&amp;D department are leaving the company with high pace as compared to other departments which shows that R&amp;D department needs improvement.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1800" dirty="0"/>
              <a:t>Employees getting low monthly income and unsatisfied with their jobs are leaving the company.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1800" dirty="0"/>
              <a:t>Furthermore the employees residing Very Far from office are not willing to commute as the long distance travel increases the travel time and travel expense.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lvl="1" algn="just"/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 addressing the underlying causes of attrition, the company can work towards fostering a more stable and satisfied workforce.</a:t>
            </a:r>
            <a:endParaRPr lang="en-IN" sz="18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1300" dirty="0"/>
          </a:p>
        </p:txBody>
      </p:sp>
      <p:pic>
        <p:nvPicPr>
          <p:cNvPr id="46" name="Graphic 45" descr="Statistics">
            <a:extLst>
              <a:ext uri="{FF2B5EF4-FFF2-40B4-BE49-F238E27FC236}">
                <a16:creationId xmlns:a16="http://schemas.microsoft.com/office/drawing/2014/main" id="{64424D33-E4DB-0AFC-B345-A58A2043A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0228" y="2201131"/>
            <a:ext cx="2396444" cy="2396444"/>
          </a:xfrm>
          <a:prstGeom prst="rect">
            <a:avLst/>
          </a:prstGeom>
        </p:spPr>
      </p:pic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89DD009-D6B6-C81B-67A2-8518779D9905}"/>
              </a:ext>
            </a:extLst>
          </p:cNvPr>
          <p:cNvSpPr txBox="1">
            <a:spLocks/>
          </p:cNvSpPr>
          <p:nvPr/>
        </p:nvSpPr>
        <p:spPr>
          <a:xfrm>
            <a:off x="6091309" y="703386"/>
            <a:ext cx="5205047" cy="54160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160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973CFC7D-374D-4D67-8994-8DA9D4E23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olor Fill">
            <a:extLst>
              <a:ext uri="{FF2B5EF4-FFF2-40B4-BE49-F238E27FC236}">
                <a16:creationId xmlns:a16="http://schemas.microsoft.com/office/drawing/2014/main" id="{8F7FA731-5B6E-499C-926D-C2D2D4946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ure">
            <a:extLst>
              <a:ext uri="{FF2B5EF4-FFF2-40B4-BE49-F238E27FC236}">
                <a16:creationId xmlns:a16="http://schemas.microsoft.com/office/drawing/2014/main" id="{8592B821-10D5-48C0-8022-A904844B7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421E9-C8C8-D774-9C25-8C561CF3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1187316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b="1" dirty="0">
                <a:latin typeface="+mn-lt"/>
                <a:ea typeface="+mn-ea"/>
                <a:cs typeface="+mn-cs"/>
              </a:rPr>
              <a:t>SUGGESTIONS TO MAINTAIN OPTIMUM EMPLOYEE RETENTION</a:t>
            </a:r>
            <a:endParaRPr lang="en-IN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256B0F-9375-DC1B-B883-07EC350B2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134810"/>
              </p:ext>
            </p:extLst>
          </p:nvPr>
        </p:nvGraphicFramePr>
        <p:xfrm>
          <a:off x="457200" y="2097088"/>
          <a:ext cx="11187390" cy="407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1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40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41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42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Color Fill">
            <a:extLst>
              <a:ext uri="{FF2B5EF4-FFF2-40B4-BE49-F238E27FC236}">
                <a16:creationId xmlns:a16="http://schemas.microsoft.com/office/drawing/2014/main" id="{8BECD55C-E611-4BCD-B45E-BF01D6234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Graphic 9">
            <a:extLst>
              <a:ext uri="{FF2B5EF4-FFF2-40B4-BE49-F238E27FC236}">
                <a16:creationId xmlns:a16="http://schemas.microsoft.com/office/drawing/2014/main" id="{1B8F0E52-7B96-44E2-BC48-F2D2BAC46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79" y="16681"/>
            <a:ext cx="6905281" cy="6827374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rgbClr val="FFFFFF"/>
          </a:solidFill>
          <a:ln w="3810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8D1C0-5954-3909-C2F5-103D36BF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6656"/>
            <a:ext cx="4563482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C6250964-1A24-8EEE-1C6E-1F7FDA7E9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2448" y="1271159"/>
            <a:ext cx="4610529" cy="461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6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765</Words>
  <Application>Microsoft Office PowerPoint</Application>
  <PresentationFormat>Widescreen</PresentationFormat>
  <Paragraphs>105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Aptos</vt:lpstr>
      <vt:lpstr>Arial</vt:lpstr>
      <vt:lpstr>Gill Sans Nova</vt:lpstr>
      <vt:lpstr>Wingdings</vt:lpstr>
      <vt:lpstr>TropicVTI</vt:lpstr>
      <vt:lpstr>PowerPoint Presentation</vt:lpstr>
      <vt:lpstr>EMPLOYEE ATTRITION ANALYSIS </vt:lpstr>
      <vt:lpstr>PowerPoint Presentation</vt:lpstr>
      <vt:lpstr>PowerPoint Presentation</vt:lpstr>
      <vt:lpstr>Key Performance Indicators (KPIs)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SUGGESTIONS TO MAINTAIN OPTIMUM EMPLOYEE RETENTION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ANALYSIS </dc:title>
  <dc:creator>Pratiksha Ingle</dc:creator>
  <cp:lastModifiedBy>Pratiksha Ingle</cp:lastModifiedBy>
  <cp:revision>30</cp:revision>
  <dcterms:created xsi:type="dcterms:W3CDTF">2024-03-14T11:33:22Z</dcterms:created>
  <dcterms:modified xsi:type="dcterms:W3CDTF">2024-03-16T05:54:26Z</dcterms:modified>
</cp:coreProperties>
</file>